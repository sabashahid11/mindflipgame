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7" r:id="rId4"/>
    <p:sldId id="261" r:id="rId5"/>
    <p:sldId id="266" r:id="rId6"/>
    <p:sldId id="268" r:id="rId7"/>
    <p:sldId id="269" r:id="rId8"/>
    <p:sldId id="262" r:id="rId9"/>
    <p:sldId id="270" r:id="rId10"/>
    <p:sldId id="271" r:id="rId11"/>
    <p:sldId id="284" r:id="rId12"/>
    <p:sldId id="264" r:id="rId13"/>
    <p:sldId id="272" r:id="rId14"/>
    <p:sldId id="265" r:id="rId15"/>
    <p:sldId id="273" r:id="rId16"/>
    <p:sldId id="288" r:id="rId17"/>
    <p:sldId id="289" r:id="rId18"/>
    <p:sldId id="282" r:id="rId19"/>
    <p:sldId id="290" r:id="rId20"/>
    <p:sldId id="283" r:id="rId2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12T04:56:16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65397" y="2481148"/>
            <a:ext cx="407098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271265" y="3893896"/>
            <a:ext cx="4581525" cy="1587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©</a:t>
            </a:r>
            <a:r>
              <a:rPr spc="-10" dirty="0"/>
              <a:t> </a:t>
            </a:r>
            <a:r>
              <a:rPr dirty="0"/>
              <a:t>Bahria</a:t>
            </a:r>
            <a:r>
              <a:rPr spc="-2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4B3D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Department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20" dirty="0"/>
              <a:t> </a:t>
            </a:r>
            <a:r>
              <a:rPr dirty="0"/>
              <a:t>Science</a:t>
            </a:r>
            <a:r>
              <a:rPr spc="-15" dirty="0"/>
              <a:t> </a:t>
            </a:r>
            <a:r>
              <a:rPr dirty="0">
                <a:solidFill>
                  <a:srgbClr val="7E7E7E"/>
                </a:solidFill>
              </a:rPr>
              <a:t>|</a:t>
            </a:r>
            <a:r>
              <a:rPr spc="-5" dirty="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17375E"/>
                </a:solidFill>
              </a:rPr>
              <a:t>Bahria</a:t>
            </a:r>
            <a:r>
              <a:rPr spc="-15" dirty="0">
                <a:solidFill>
                  <a:srgbClr val="17375E"/>
                </a:solidFill>
              </a:rPr>
              <a:t> </a:t>
            </a:r>
            <a:r>
              <a:rPr spc="-10" dirty="0">
                <a:solidFill>
                  <a:srgbClr val="17375E"/>
                </a:solidFill>
              </a:rPr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©</a:t>
            </a:r>
            <a:r>
              <a:rPr spc="-10" dirty="0"/>
              <a:t> </a:t>
            </a:r>
            <a:r>
              <a:rPr dirty="0"/>
              <a:t>Bahria</a:t>
            </a:r>
            <a:r>
              <a:rPr spc="-2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4B3D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Department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20" dirty="0"/>
              <a:t> </a:t>
            </a:r>
            <a:r>
              <a:rPr dirty="0"/>
              <a:t>Science</a:t>
            </a:r>
            <a:r>
              <a:rPr spc="-15" dirty="0"/>
              <a:t> </a:t>
            </a:r>
            <a:r>
              <a:rPr dirty="0">
                <a:solidFill>
                  <a:srgbClr val="7E7E7E"/>
                </a:solidFill>
              </a:rPr>
              <a:t>|</a:t>
            </a:r>
            <a:r>
              <a:rPr spc="-5" dirty="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17375E"/>
                </a:solidFill>
              </a:rPr>
              <a:t>Bahria</a:t>
            </a:r>
            <a:r>
              <a:rPr spc="-15" dirty="0">
                <a:solidFill>
                  <a:srgbClr val="17375E"/>
                </a:solidFill>
              </a:rPr>
              <a:t> </a:t>
            </a:r>
            <a:r>
              <a:rPr spc="-10" dirty="0">
                <a:solidFill>
                  <a:srgbClr val="17375E"/>
                </a:solidFill>
              </a:rPr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©</a:t>
            </a:r>
            <a:r>
              <a:rPr spc="-10" dirty="0"/>
              <a:t> </a:t>
            </a:r>
            <a:r>
              <a:rPr dirty="0"/>
              <a:t>Bahria</a:t>
            </a:r>
            <a:r>
              <a:rPr spc="-2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4B3D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Department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20" dirty="0"/>
              <a:t> </a:t>
            </a:r>
            <a:r>
              <a:rPr dirty="0"/>
              <a:t>Science</a:t>
            </a:r>
            <a:r>
              <a:rPr spc="-15" dirty="0"/>
              <a:t> </a:t>
            </a:r>
            <a:r>
              <a:rPr dirty="0">
                <a:solidFill>
                  <a:srgbClr val="7E7E7E"/>
                </a:solidFill>
              </a:rPr>
              <a:t>|</a:t>
            </a:r>
            <a:r>
              <a:rPr spc="-5" dirty="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17375E"/>
                </a:solidFill>
              </a:rPr>
              <a:t>Bahria</a:t>
            </a:r>
            <a:r>
              <a:rPr spc="-15" dirty="0">
                <a:solidFill>
                  <a:srgbClr val="17375E"/>
                </a:solidFill>
              </a:rPr>
              <a:t> </a:t>
            </a:r>
            <a:r>
              <a:rPr spc="-10" dirty="0">
                <a:solidFill>
                  <a:srgbClr val="17375E"/>
                </a:solidFill>
              </a:rPr>
              <a:t>University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©</a:t>
            </a:r>
            <a:r>
              <a:rPr spc="-10" dirty="0"/>
              <a:t> </a:t>
            </a:r>
            <a:r>
              <a:rPr dirty="0"/>
              <a:t>Bahria</a:t>
            </a:r>
            <a:r>
              <a:rPr spc="-2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4B3D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Department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20" dirty="0"/>
              <a:t> </a:t>
            </a:r>
            <a:r>
              <a:rPr dirty="0"/>
              <a:t>Science</a:t>
            </a:r>
            <a:r>
              <a:rPr spc="-15" dirty="0"/>
              <a:t> </a:t>
            </a:r>
            <a:r>
              <a:rPr dirty="0">
                <a:solidFill>
                  <a:srgbClr val="7E7E7E"/>
                </a:solidFill>
              </a:rPr>
              <a:t>|</a:t>
            </a:r>
            <a:r>
              <a:rPr spc="-5" dirty="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17375E"/>
                </a:solidFill>
              </a:rPr>
              <a:t>Bahria</a:t>
            </a:r>
            <a:r>
              <a:rPr spc="-15" dirty="0">
                <a:solidFill>
                  <a:srgbClr val="17375E"/>
                </a:solidFill>
              </a:rPr>
              <a:t> </a:t>
            </a:r>
            <a:r>
              <a:rPr spc="-10" dirty="0">
                <a:solidFill>
                  <a:srgbClr val="17375E"/>
                </a:solidFill>
              </a:rPr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©</a:t>
            </a:r>
            <a:r>
              <a:rPr spc="-10" dirty="0"/>
              <a:t> </a:t>
            </a:r>
            <a:r>
              <a:rPr dirty="0"/>
              <a:t>Bahria</a:t>
            </a:r>
            <a:r>
              <a:rPr spc="-2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94B3D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Department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20" dirty="0"/>
              <a:t> </a:t>
            </a:r>
            <a:r>
              <a:rPr dirty="0"/>
              <a:t>Science</a:t>
            </a:r>
            <a:r>
              <a:rPr spc="-15" dirty="0"/>
              <a:t> </a:t>
            </a:r>
            <a:r>
              <a:rPr dirty="0">
                <a:solidFill>
                  <a:srgbClr val="7E7E7E"/>
                </a:solidFill>
              </a:rPr>
              <a:t>|</a:t>
            </a:r>
            <a:r>
              <a:rPr spc="-5" dirty="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17375E"/>
                </a:solidFill>
              </a:rPr>
              <a:t>Bahria</a:t>
            </a:r>
            <a:r>
              <a:rPr spc="-15" dirty="0">
                <a:solidFill>
                  <a:srgbClr val="17375E"/>
                </a:solidFill>
              </a:rPr>
              <a:t> </a:t>
            </a:r>
            <a:r>
              <a:rPr spc="-10" dirty="0">
                <a:solidFill>
                  <a:srgbClr val="17375E"/>
                </a:solidFill>
              </a:rPr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1" y="6552438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7"/>
                </a:lnTo>
              </a:path>
            </a:pathLst>
          </a:custGeom>
          <a:ln w="50292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28600"/>
            <a:ext cx="9144000" cy="4998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5" y="282905"/>
            <a:ext cx="8607348" cy="1266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2957" y="1906904"/>
            <a:ext cx="5013959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5940" y="6639483"/>
            <a:ext cx="1036955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©</a:t>
            </a:r>
            <a:r>
              <a:rPr spc="-10" dirty="0"/>
              <a:t> </a:t>
            </a:r>
            <a:r>
              <a:rPr dirty="0"/>
              <a:t>Bahria</a:t>
            </a:r>
            <a:r>
              <a:rPr spc="-2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98775" y="6644437"/>
            <a:ext cx="33667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94B3D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Department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20" dirty="0"/>
              <a:t> </a:t>
            </a:r>
            <a:r>
              <a:rPr dirty="0"/>
              <a:t>Science</a:t>
            </a:r>
            <a:r>
              <a:rPr spc="-15" dirty="0"/>
              <a:t> </a:t>
            </a:r>
            <a:r>
              <a:rPr dirty="0">
                <a:solidFill>
                  <a:srgbClr val="7E7E7E"/>
                </a:solidFill>
              </a:rPr>
              <a:t>|</a:t>
            </a:r>
            <a:r>
              <a:rPr spc="-5" dirty="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17375E"/>
                </a:solidFill>
              </a:rPr>
              <a:t>Bahria</a:t>
            </a:r>
            <a:r>
              <a:rPr spc="-15" dirty="0">
                <a:solidFill>
                  <a:srgbClr val="17375E"/>
                </a:solidFill>
              </a:rPr>
              <a:t> </a:t>
            </a:r>
            <a:r>
              <a:rPr spc="-10" dirty="0">
                <a:solidFill>
                  <a:srgbClr val="17375E"/>
                </a:solidFill>
              </a:rPr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811" y="6628282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7" Type="http://schemas.openxmlformats.org/officeDocument/2006/relationships/image" Target="../media/image11.jpe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9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6618" y="40970"/>
            <a:ext cx="12871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7375E"/>
                </a:solidFill>
                <a:latin typeface="Calibri"/>
                <a:cs typeface="Calibri"/>
              </a:rPr>
              <a:t>Discovering</a:t>
            </a:r>
            <a:r>
              <a:rPr sz="1050" spc="-6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36C09"/>
                </a:solidFill>
                <a:latin typeface="Calibri"/>
                <a:cs typeface="Calibri"/>
              </a:rPr>
              <a:t>Knowledge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29255" y="1135380"/>
            <a:ext cx="20955" cy="4057650"/>
            <a:chOff x="2429255" y="1135380"/>
            <a:chExt cx="20955" cy="4057650"/>
          </a:xfrm>
        </p:grpSpPr>
        <p:sp>
          <p:nvSpPr>
            <p:cNvPr id="4" name="object 4"/>
            <p:cNvSpPr/>
            <p:nvPr/>
          </p:nvSpPr>
          <p:spPr>
            <a:xfrm>
              <a:off x="2439161" y="1145286"/>
              <a:ext cx="1270" cy="4037965"/>
            </a:xfrm>
            <a:custGeom>
              <a:avLst/>
              <a:gdLst/>
              <a:ahLst/>
              <a:cxnLst/>
              <a:rect l="l" t="t" r="r" b="b"/>
              <a:pathLst>
                <a:path w="1269" h="4037965">
                  <a:moveTo>
                    <a:pt x="0" y="4037838"/>
                  </a:moveTo>
                  <a:lnTo>
                    <a:pt x="762" y="0"/>
                  </a:lnTo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39161" y="1145286"/>
              <a:ext cx="1270" cy="4037965"/>
            </a:xfrm>
            <a:custGeom>
              <a:avLst/>
              <a:gdLst/>
              <a:ahLst/>
              <a:cxnLst/>
              <a:rect l="l" t="t" r="r" b="b"/>
              <a:pathLst>
                <a:path w="1269" h="4037965">
                  <a:moveTo>
                    <a:pt x="0" y="4037838"/>
                  </a:moveTo>
                  <a:lnTo>
                    <a:pt x="762" y="0"/>
                  </a:lnTo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133600"/>
            <a:ext cx="1676400" cy="200406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31960" y="1446786"/>
            <a:ext cx="626872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en-US" sz="4000" dirty="0"/>
              <a:t>CSL-113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©</a:t>
            </a:r>
            <a:r>
              <a:rPr spc="-10" dirty="0"/>
              <a:t> </a:t>
            </a:r>
            <a:r>
              <a:rPr dirty="0"/>
              <a:t>Bahria</a:t>
            </a:r>
            <a:r>
              <a:rPr spc="-2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Department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20" dirty="0"/>
              <a:t> </a:t>
            </a:r>
            <a:r>
              <a:rPr dirty="0"/>
              <a:t>Science</a:t>
            </a:r>
            <a:r>
              <a:rPr spc="-15" dirty="0"/>
              <a:t> </a:t>
            </a:r>
            <a:r>
              <a:rPr dirty="0">
                <a:solidFill>
                  <a:srgbClr val="7E7E7E"/>
                </a:solidFill>
              </a:rPr>
              <a:t>|</a:t>
            </a:r>
            <a:r>
              <a:rPr spc="-5" dirty="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17375E"/>
                </a:solidFill>
              </a:rPr>
              <a:t>Bahria</a:t>
            </a:r>
            <a:r>
              <a:rPr spc="-15" dirty="0">
                <a:solidFill>
                  <a:srgbClr val="17375E"/>
                </a:solidFill>
              </a:rPr>
              <a:t> </a:t>
            </a:r>
            <a:r>
              <a:rPr spc="-10" dirty="0">
                <a:solidFill>
                  <a:srgbClr val="17375E"/>
                </a:solidFill>
              </a:rPr>
              <a:t>University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79775" y="5886703"/>
            <a:ext cx="4359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https://sites.google.com/site/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2C450983-1A87-459D-BDFB-58F2DC8EB863}"/>
              </a:ext>
            </a:extLst>
          </p:cNvPr>
          <p:cNvSpPr txBox="1">
            <a:spLocks/>
          </p:cNvSpPr>
          <p:nvPr/>
        </p:nvSpPr>
        <p:spPr>
          <a:xfrm>
            <a:off x="2631960" y="1904800"/>
            <a:ext cx="6268720" cy="1563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>
              <a:spcBef>
                <a:spcPts val="95"/>
              </a:spcBef>
            </a:pPr>
            <a:r>
              <a:rPr lang="en-US" sz="4000" dirty="0"/>
              <a:t>Computer Programming Lab</a:t>
            </a:r>
          </a:p>
          <a:p>
            <a:pPr algn="ctr">
              <a:spcBef>
                <a:spcPts val="95"/>
              </a:spcBef>
            </a:pPr>
            <a:r>
              <a:rPr lang="en-US" sz="3200" dirty="0"/>
              <a:t>Spring 2024</a:t>
            </a:r>
            <a:br>
              <a:rPr lang="en-US" sz="3200" dirty="0"/>
            </a:br>
            <a:r>
              <a:rPr lang="en-US" sz="2800" dirty="0"/>
              <a:t>BSCS 1(Section)</a:t>
            </a:r>
          </a:p>
        </p:txBody>
      </p:sp>
      <p:sp>
        <p:nvSpPr>
          <p:cNvPr id="14" name="object 8"/>
          <p:cNvSpPr txBox="1"/>
          <p:nvPr/>
        </p:nvSpPr>
        <p:spPr>
          <a:xfrm>
            <a:off x="2439161" y="4219094"/>
            <a:ext cx="6268720" cy="56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17220">
              <a:lnSpc>
                <a:spcPct val="120100"/>
              </a:lnSpc>
              <a:spcBef>
                <a:spcPts val="100"/>
              </a:spcBef>
            </a:pPr>
            <a:r>
              <a:rPr lang="en-US" sz="3200" spc="-10" dirty="0" smtClean="0">
                <a:solidFill>
                  <a:srgbClr val="E36C09"/>
                </a:solidFill>
                <a:latin typeface="Calibri"/>
                <a:cs typeface="Calibri"/>
              </a:rPr>
              <a:t>FLIGHT MANAGEMENT SYSTEM</a:t>
            </a:r>
            <a:endParaRPr lang="en-US"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76618" y="40970"/>
            <a:ext cx="12871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17375E"/>
                </a:solidFill>
                <a:latin typeface="Calibri"/>
                <a:cs typeface="Calibri"/>
              </a:rPr>
              <a:t>Discovering</a:t>
            </a:r>
            <a:r>
              <a:rPr sz="1050" spc="-60" dirty="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36C09"/>
                </a:solidFill>
                <a:latin typeface="Calibri"/>
                <a:cs typeface="Calibri"/>
              </a:rPr>
              <a:t>Knowledge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©</a:t>
            </a:r>
            <a:r>
              <a:rPr spc="-10" dirty="0"/>
              <a:t> </a:t>
            </a:r>
            <a:r>
              <a:rPr dirty="0"/>
              <a:t>Bahria</a:t>
            </a:r>
            <a:r>
              <a:rPr spc="-20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Department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20" dirty="0"/>
              <a:t> </a:t>
            </a:r>
            <a:r>
              <a:rPr dirty="0"/>
              <a:t>Science</a:t>
            </a:r>
            <a:r>
              <a:rPr spc="-15" dirty="0"/>
              <a:t> </a:t>
            </a:r>
            <a:r>
              <a:rPr dirty="0">
                <a:solidFill>
                  <a:srgbClr val="7E7E7E"/>
                </a:solidFill>
              </a:rPr>
              <a:t>|</a:t>
            </a:r>
            <a:r>
              <a:rPr spc="-5" dirty="0">
                <a:solidFill>
                  <a:srgbClr val="7E7E7E"/>
                </a:solidFill>
              </a:rPr>
              <a:t> </a:t>
            </a:r>
            <a:r>
              <a:rPr dirty="0">
                <a:solidFill>
                  <a:srgbClr val="17375E"/>
                </a:solidFill>
              </a:rPr>
              <a:t>Bahria</a:t>
            </a:r>
            <a:r>
              <a:rPr spc="-15" dirty="0">
                <a:solidFill>
                  <a:srgbClr val="17375E"/>
                </a:solidFill>
              </a:rPr>
              <a:t> </a:t>
            </a:r>
            <a:r>
              <a:rPr spc="-10" dirty="0">
                <a:solidFill>
                  <a:srgbClr val="17375E"/>
                </a:solidFill>
              </a:rPr>
              <a:t>University</a:t>
            </a: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38363048-03C8-4F9F-B538-8AFA8D385299}"/>
              </a:ext>
            </a:extLst>
          </p:cNvPr>
          <p:cNvSpPr txBox="1"/>
          <p:nvPr/>
        </p:nvSpPr>
        <p:spPr>
          <a:xfrm>
            <a:off x="504095" y="3835977"/>
            <a:ext cx="3186430" cy="413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lang="en-US" sz="2600" dirty="0">
                <a:solidFill>
                  <a:schemeClr val="tx1"/>
                </a:solidFill>
                <a:latin typeface="Calibri"/>
                <a:cs typeface="Calibri"/>
              </a:rPr>
              <a:t>Submitted to:</a:t>
            </a:r>
            <a:endParaRPr sz="26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535940" y="4249552"/>
            <a:ext cx="7908290" cy="67518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698500" marR="239395" indent="-342900">
              <a:lnSpc>
                <a:spcPct val="80000"/>
              </a:lnSpc>
              <a:spcBef>
                <a:spcPts val="725"/>
              </a:spcBef>
              <a:buFont typeface="Arial" panose="020B0604020202020204" pitchFamily="34" charset="0"/>
              <a:buChar char="•"/>
              <a:tabLst>
                <a:tab pos="5962650" algn="l"/>
                <a:tab pos="6726555" algn="l"/>
              </a:tabLst>
            </a:pPr>
            <a:r>
              <a:rPr lang="en-US" sz="2000" dirty="0">
                <a:solidFill>
                  <a:srgbClr val="000000"/>
                </a:solidFill>
                <a:latin typeface="Open Sans" pitchFamily="2" charset="0"/>
              </a:rPr>
              <a:t>Mrs. Azeema Sadia</a:t>
            </a:r>
            <a:endParaRPr lang="en-US" sz="2000" b="0" i="0" dirty="0">
              <a:solidFill>
                <a:srgbClr val="000000"/>
              </a:solidFill>
              <a:effectLst/>
              <a:latin typeface="Open Sans" pitchFamily="2" charset="0"/>
            </a:endParaRPr>
          </a:p>
          <a:p>
            <a:pPr marL="698500" marR="239395" indent="-342900">
              <a:lnSpc>
                <a:spcPct val="80000"/>
              </a:lnSpc>
              <a:spcBef>
                <a:spcPts val="725"/>
              </a:spcBef>
              <a:buFont typeface="Arial" panose="020B0604020202020204" pitchFamily="34" charset="0"/>
              <a:buChar char="•"/>
              <a:tabLst>
                <a:tab pos="5962650" algn="l"/>
                <a:tab pos="6726555" algn="l"/>
              </a:tabLst>
            </a:pPr>
            <a:r>
              <a:rPr lang="en-US" sz="2000" b="0" i="0" dirty="0">
                <a:solidFill>
                  <a:srgbClr val="000000"/>
                </a:solidFill>
                <a:effectLst/>
                <a:latin typeface="Open Sans" pitchFamily="2" charset="0"/>
              </a:rPr>
              <a:t>Ms. Hafsa Munawar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49913"/>
              </p:ext>
            </p:extLst>
          </p:nvPr>
        </p:nvGraphicFramePr>
        <p:xfrm>
          <a:off x="540489" y="2105410"/>
          <a:ext cx="609600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6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Enrollment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02-13241-048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SABA</a:t>
                      </a:r>
                      <a:r>
                        <a:rPr lang="en-US" baseline="0" dirty="0" smtClean="0"/>
                        <a:t> SHAHID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02-134241-004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IBAD</a:t>
                      </a:r>
                      <a:r>
                        <a:rPr lang="en-US" baseline="0" dirty="0" smtClean="0"/>
                        <a:t> UR REHMAN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02-134241-018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JIBRAIL</a:t>
                      </a:r>
                      <a:r>
                        <a:rPr lang="en-US" baseline="0" dirty="0" smtClean="0"/>
                        <a:t> AMEEN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8"/>
          <p:cNvSpPr txBox="1"/>
          <p:nvPr/>
        </p:nvSpPr>
        <p:spPr>
          <a:xfrm>
            <a:off x="-65627" y="1649388"/>
            <a:ext cx="2816608" cy="456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17220">
              <a:lnSpc>
                <a:spcPct val="120100"/>
              </a:lnSpc>
              <a:spcBef>
                <a:spcPts val="100"/>
              </a:spcBef>
            </a:pPr>
            <a:r>
              <a:rPr lang="en-US" sz="2400" spc="-10" dirty="0">
                <a:solidFill>
                  <a:schemeClr val="tx1"/>
                </a:solidFill>
                <a:latin typeface="Calibri"/>
                <a:cs typeface="Calibri"/>
              </a:rPr>
              <a:t>Group Members:</a:t>
            </a:r>
            <a:endParaRPr lang="en-US" sz="2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FC1EA-7F44-FFA1-4F0C-11D80BB74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895600"/>
            <a:ext cx="8607348" cy="830997"/>
          </a:xfrm>
        </p:spPr>
        <p:txBody>
          <a:bodyPr/>
          <a:lstStyle/>
          <a:p>
            <a:r>
              <a:rPr lang="en-US" sz="5400" b="1" dirty="0"/>
              <a:t>Project Introduction </a:t>
            </a:r>
            <a:endParaRPr lang="en-GB" sz="5400" b="1" dirty="0"/>
          </a:p>
        </p:txBody>
      </p:sp>
    </p:spTree>
    <p:extLst>
      <p:ext uri="{BB962C8B-B14F-4D97-AF65-F5344CB8AC3E}">
        <p14:creationId xmlns:p14="http://schemas.microsoft.com/office/powerpoint/2010/main" val="32677677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228600" y="1524000"/>
            <a:ext cx="8381999" cy="4062651"/>
          </a:xfrm>
        </p:spPr>
        <p:txBody>
          <a:bodyPr/>
          <a:lstStyle/>
          <a:p>
            <a:r>
              <a:rPr lang="en-US" sz="3600" b="1" dirty="0" err="1" smtClean="0"/>
              <a:t>Background:</a:t>
            </a:r>
            <a:r>
              <a:rPr lang="en-US" dirty="0" err="1"/>
              <a:t>The</a:t>
            </a:r>
            <a:r>
              <a:rPr lang="en-US" dirty="0"/>
              <a:t> Flight Management </a:t>
            </a:r>
            <a:r>
              <a:rPr lang="en-US" sz="2800" dirty="0"/>
              <a:t>System is designed to assist users in planning their travel itineraries efficiently. Leveraging fundamental programming concepts such as loops, arrays, functions, if-else statements, and switches, our system provides a user-friendly experience. Implemented as a console application, it features a straightforward user interface and clear instructions, ensuring accessibility for a wide </a:t>
            </a:r>
            <a:r>
              <a:rPr lang="en-US" sz="2800" dirty="0" smtClean="0"/>
              <a:t>audience.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78514445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3F625-9BA4-02BE-FED4-48117BA76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062651"/>
          </a:xfrm>
        </p:spPr>
        <p:txBody>
          <a:bodyPr/>
          <a:lstStyle/>
          <a:p>
            <a:r>
              <a:rPr lang="en-US" b="1" dirty="0"/>
              <a:t>Problem Statement/Motivation:</a:t>
            </a:r>
            <a:r>
              <a:rPr lang="en-US" dirty="0"/>
              <a:t> </a:t>
            </a:r>
            <a:r>
              <a:rPr lang="en-US" sz="2800" dirty="0"/>
              <a:t>Efficient travel planning is crucial in today's fast-paced world, where travelers face an overwhelming amount of information and choices. Traditional travel planning methods, such as using travel agents or manually compiling data, are often time-consuming and error-prone. Existing digital tools are either too complex or lack essential features, making them inaccessible to users with limited technical skills.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819967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A3FC-D3E0-CAE3-17B0-ED428A15C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14399"/>
            <a:ext cx="7696200" cy="2954655"/>
          </a:xfrm>
        </p:spPr>
        <p:txBody>
          <a:bodyPr/>
          <a:lstStyle/>
          <a:p>
            <a:r>
              <a:rPr lang="en-US" sz="4000" dirty="0"/>
              <a:t> </a:t>
            </a:r>
            <a:r>
              <a:rPr lang="en-US" sz="4000" b="1" dirty="0"/>
              <a:t>Scope</a:t>
            </a:r>
            <a:r>
              <a:rPr lang="en-US" sz="4000" b="1" dirty="0" smtClean="0"/>
              <a:t>:</a:t>
            </a:r>
            <a:br>
              <a:rPr lang="en-US" sz="4000" b="1" dirty="0" smtClean="0"/>
            </a:b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2800" dirty="0"/>
              <a:t>The Flight Management System project extends its scope to include not only the core functionalities of itinerary planning but also aspects of user engagement and system optimization.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298264524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2281-AF01-B054-ADD2-04343C8B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326" y="685800"/>
            <a:ext cx="8607348" cy="677108"/>
          </a:xfrm>
        </p:spPr>
        <p:txBody>
          <a:bodyPr/>
          <a:lstStyle/>
          <a:p>
            <a:r>
              <a:rPr lang="en-US" b="1" dirty="0"/>
              <a:t>Objectives:</a:t>
            </a:r>
            <a:endParaRPr lang="en-GB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93B7F-57C4-A198-67BC-718E10491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326" y="1600200"/>
            <a:ext cx="8875674" cy="184665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dirty="0" smtClean="0"/>
              <a:t>Simplify travel planning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dirty="0" smtClean="0"/>
              <a:t>Save time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dirty="0" smtClean="0"/>
              <a:t>Give useful recommendations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587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3608" y="3090446"/>
            <a:ext cx="4756784" cy="830997"/>
          </a:xfrm>
        </p:spPr>
        <p:txBody>
          <a:bodyPr/>
          <a:lstStyle/>
          <a:p>
            <a:r>
              <a:rPr lang="en-US" sz="5400" b="1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77973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571FB-4FD0-9C62-6117-6C3B76DAE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19200"/>
            <a:ext cx="8607348" cy="5416868"/>
          </a:xfrm>
        </p:spPr>
        <p:txBody>
          <a:bodyPr/>
          <a:lstStyle/>
          <a:p>
            <a:r>
              <a:rPr lang="en-GB" b="1" dirty="0"/>
              <a:t>Programming Language: </a:t>
            </a:r>
            <a:r>
              <a:rPr lang="en-GB" dirty="0"/>
              <a:t>C++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IDE: </a:t>
            </a:r>
            <a:r>
              <a:rPr lang="en-US" dirty="0"/>
              <a:t>Visual Studio</a:t>
            </a:r>
            <a:br>
              <a:rPr lang="en-US" dirty="0"/>
            </a:br>
            <a:r>
              <a:rPr lang="en-US" b="1" dirty="0"/>
              <a:t>Data Structures: </a:t>
            </a:r>
            <a:r>
              <a:rPr lang="en-US" dirty="0" smtClean="0"/>
              <a:t>utilized arrays for storing the input user data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File Handling: </a:t>
            </a:r>
            <a:r>
              <a:rPr lang="en-US" dirty="0" smtClean="0"/>
              <a:t>To store user data and match passwords to login </a:t>
            </a:r>
            <a:r>
              <a:rPr lang="en-US" dirty="0"/>
              <a:t/>
            </a:r>
            <a:br>
              <a:rPr lang="en-US" dirty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34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772285"/>
            <a:ext cx="5943600" cy="331343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676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728152"/>
            <a:ext cx="5943600" cy="340169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05766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200" y="2895600"/>
            <a:ext cx="4756784" cy="830997"/>
          </a:xfrm>
        </p:spPr>
        <p:txBody>
          <a:bodyPr/>
          <a:lstStyle/>
          <a:p>
            <a:r>
              <a:rPr lang="en-US" sz="5400" b="1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14960619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F6FD4-5CBC-5177-1CF9-76D5E5C15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685800"/>
            <a:ext cx="8607348" cy="677108"/>
          </a:xfrm>
        </p:spPr>
        <p:txBody>
          <a:bodyPr/>
          <a:lstStyle/>
          <a:p>
            <a:r>
              <a:rPr lang="en-US" b="1" dirty="0"/>
              <a:t>Key Features and Functionalities</a:t>
            </a:r>
            <a:endParaRPr lang="en-GB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2B370-6CCA-1831-B644-FE0B1069F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1" y="1676401"/>
            <a:ext cx="7802116" cy="3847207"/>
          </a:xfrm>
        </p:spPr>
        <p:txBody>
          <a:bodyPr/>
          <a:lstStyle/>
          <a:p>
            <a:pPr marL="887819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Canva Sans Bold"/>
              </a:rPr>
              <a:t>Sign </a:t>
            </a:r>
            <a:r>
              <a:rPr lang="en-US" sz="2000" b="1" dirty="0" smtClean="0">
                <a:solidFill>
                  <a:schemeClr val="tx1"/>
                </a:solidFill>
                <a:latin typeface="Canva Sans Bold"/>
              </a:rPr>
              <a:t>In for admin</a:t>
            </a:r>
            <a:endParaRPr lang="en-US" sz="2000" b="1" dirty="0">
              <a:solidFill>
                <a:schemeClr val="tx1"/>
              </a:solidFill>
              <a:latin typeface="Canva Sans Bold"/>
            </a:endParaRPr>
          </a:p>
          <a:p>
            <a:pPr marL="887819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Canva Sans Bold"/>
              </a:rPr>
              <a:t>Sign </a:t>
            </a:r>
            <a:r>
              <a:rPr lang="en-US" sz="2000" b="1" dirty="0" smtClean="0">
                <a:solidFill>
                  <a:schemeClr val="tx1"/>
                </a:solidFill>
                <a:latin typeface="Canva Sans Bold"/>
              </a:rPr>
              <a:t>Up for crew members</a:t>
            </a:r>
            <a:endParaRPr lang="en-US" sz="2000" b="1" dirty="0">
              <a:solidFill>
                <a:schemeClr val="tx1"/>
              </a:solidFill>
              <a:latin typeface="Canva Sans Bold"/>
            </a:endParaRPr>
          </a:p>
          <a:p>
            <a:pPr marL="887819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 smtClean="0">
                <a:solidFill>
                  <a:schemeClr val="tx1"/>
                </a:solidFill>
                <a:latin typeface="Canva Sans Bold"/>
              </a:rPr>
              <a:t>Schedule and edit a flight schedule</a:t>
            </a:r>
            <a:endParaRPr lang="en-US" sz="2000" b="1" dirty="0">
              <a:solidFill>
                <a:schemeClr val="tx1"/>
              </a:solidFill>
              <a:latin typeface="Canva Sans Bold"/>
            </a:endParaRPr>
          </a:p>
          <a:p>
            <a:pPr marL="887819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 smtClean="0">
                <a:solidFill>
                  <a:schemeClr val="tx1"/>
                </a:solidFill>
                <a:latin typeface="Canva Sans Bold"/>
              </a:rPr>
              <a:t>Assign the crew </a:t>
            </a:r>
            <a:endParaRPr lang="en-US" sz="2000" b="1" dirty="0">
              <a:solidFill>
                <a:schemeClr val="tx1"/>
              </a:solidFill>
              <a:latin typeface="Canva Sans Bold"/>
            </a:endParaRPr>
          </a:p>
          <a:p>
            <a:pPr marL="887819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 smtClean="0">
                <a:solidFill>
                  <a:schemeClr val="tx1"/>
                </a:solidFill>
                <a:latin typeface="Canva Sans Bold"/>
              </a:rPr>
              <a:t>See past flight record</a:t>
            </a:r>
            <a:endParaRPr lang="en-US" sz="2000" b="1" dirty="0">
              <a:solidFill>
                <a:schemeClr val="tx1"/>
              </a:solidFill>
              <a:latin typeface="Canva Sans Bold"/>
            </a:endParaRPr>
          </a:p>
          <a:p>
            <a:pPr marL="887819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 smtClean="0">
                <a:solidFill>
                  <a:schemeClr val="tx1"/>
                </a:solidFill>
                <a:latin typeface="Canva Sans Bold"/>
              </a:rPr>
              <a:t>Book a flight</a:t>
            </a:r>
            <a:endParaRPr lang="en-US" sz="2000" b="1" dirty="0">
              <a:solidFill>
                <a:schemeClr val="tx1"/>
              </a:solidFill>
              <a:latin typeface="Canva Sans Bold"/>
            </a:endParaRPr>
          </a:p>
          <a:p>
            <a:pPr marL="887819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 smtClean="0">
                <a:solidFill>
                  <a:schemeClr val="tx1"/>
                </a:solidFill>
                <a:latin typeface="Canva Sans Bold"/>
              </a:rPr>
              <a:t>Display flight </a:t>
            </a:r>
            <a:r>
              <a:rPr lang="en-US" sz="2000" b="1" dirty="0" err="1" smtClean="0">
                <a:solidFill>
                  <a:schemeClr val="tx1"/>
                </a:solidFill>
                <a:latin typeface="Canva Sans Bold"/>
              </a:rPr>
              <a:t>avalibility</a:t>
            </a:r>
            <a:endParaRPr lang="en-US" sz="2000" b="1" dirty="0">
              <a:solidFill>
                <a:schemeClr val="tx1"/>
              </a:solidFill>
              <a:latin typeface="Canva Sans Bold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460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967335"/>
            <a:ext cx="4756784" cy="923330"/>
          </a:xfrm>
        </p:spPr>
        <p:txBody>
          <a:bodyPr/>
          <a:lstStyle/>
          <a:p>
            <a:r>
              <a:rPr lang="en-US" sz="60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68346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4D76-5F7D-582B-B8A3-C87D4EC2E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90600"/>
            <a:ext cx="6549948" cy="566308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800" dirty="0"/>
              <a:t>The flight management system successfully fulfills its objectives by providing comprehensive functionality for administrators, crew members, and passengers</a:t>
            </a:r>
            <a:r>
              <a:rPr lang="en-US" sz="2800" b="1" dirty="0" smtClean="0">
                <a:latin typeface="+mn-lt"/>
              </a:rPr>
              <a:t>.</a:t>
            </a:r>
            <a:r>
              <a:rPr lang="en-US" sz="2000" b="1" dirty="0">
                <a:latin typeface="+mn-lt"/>
              </a:rPr>
              <a:t/>
            </a:r>
            <a:br>
              <a:rPr lang="en-US" sz="2000" b="1" dirty="0">
                <a:latin typeface="+mn-lt"/>
              </a:rPr>
            </a:br>
            <a:r>
              <a:rPr lang="en-US" sz="1100" b="1" dirty="0">
                <a:latin typeface="Canva Sans"/>
              </a:rPr>
              <a:t/>
            </a:r>
            <a:br>
              <a:rPr lang="en-US" sz="1100" b="1" dirty="0">
                <a:latin typeface="Canva Sans"/>
              </a:rPr>
            </a:br>
            <a:r>
              <a:rPr lang="en-US" sz="1100" b="1" dirty="0">
                <a:latin typeface="Canva Sans"/>
              </a:rPr>
              <a:t/>
            </a:r>
            <a:br>
              <a:rPr lang="en-US" sz="1100" b="1" dirty="0">
                <a:latin typeface="Canva Sans"/>
              </a:rPr>
            </a:br>
            <a:r>
              <a:rPr lang="en-US" sz="1100" b="1" dirty="0">
                <a:latin typeface="Canva Sans"/>
              </a:rPr>
              <a:t/>
            </a:r>
            <a:br>
              <a:rPr lang="en-US" sz="1100" b="1" dirty="0">
                <a:latin typeface="Canva Sans"/>
              </a:rPr>
            </a:b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4117475915"/>
      </p:ext>
    </p:extLst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6" b="49272"/>
          <a:stretch/>
        </p:blipFill>
        <p:spPr bwMode="auto">
          <a:xfrm>
            <a:off x="990600" y="762000"/>
            <a:ext cx="5847080" cy="15824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36" y="2667000"/>
            <a:ext cx="5943600" cy="123698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82" y="4261196"/>
            <a:ext cx="5943600" cy="144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500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838200"/>
            <a:ext cx="5943600" cy="1857375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636" y="2895600"/>
            <a:ext cx="5010150" cy="82867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924300"/>
            <a:ext cx="370522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80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F36F34-AEB9-9ADF-E8AF-6C6EF9749357}"/>
                  </a:ext>
                </a:extLst>
              </p14:cNvPr>
              <p14:cNvContentPartPr/>
              <p14:nvPr/>
            </p14:nvContentPartPr>
            <p14:xfrm>
              <a:off x="2260000" y="253960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F36F34-AEB9-9ADF-E8AF-6C6EF97493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53880" y="253348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85800"/>
            <a:ext cx="4010025" cy="112395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6" y="1981200"/>
            <a:ext cx="3457575" cy="167640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829050"/>
            <a:ext cx="45624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62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790575"/>
            <a:ext cx="539115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68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8F7D4-3EA3-B72B-E9BD-CE70324B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0400"/>
            <a:ext cx="8607348" cy="830997"/>
          </a:xfrm>
        </p:spPr>
        <p:txBody>
          <a:bodyPr/>
          <a:lstStyle/>
          <a:p>
            <a:pPr algn="ctr"/>
            <a:r>
              <a:rPr lang="en-US" sz="54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683097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</TotalTime>
  <Words>343</Words>
  <Application>Microsoft Office PowerPoint</Application>
  <PresentationFormat>On-screen Show (4:3)</PresentationFormat>
  <Paragraphs>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Canva Sans</vt:lpstr>
      <vt:lpstr>Canva Sans Bold</vt:lpstr>
      <vt:lpstr>Open Sans</vt:lpstr>
      <vt:lpstr>Office Theme</vt:lpstr>
      <vt:lpstr>CSL-113</vt:lpstr>
      <vt:lpstr>PowerPoint Presentation</vt:lpstr>
      <vt:lpstr>Project Introduction </vt:lpstr>
      <vt:lpstr>PowerPoint Presentation</vt:lpstr>
      <vt:lpstr>PowerPoint Presentation</vt:lpstr>
      <vt:lpstr> Scope:  The Flight Management System project extends its scope to include not only the core functionalities of itinerary planning but also aspects of user engagement and system optimization. </vt:lpstr>
      <vt:lpstr>Objectives:</vt:lpstr>
      <vt:lpstr>Methodology</vt:lpstr>
      <vt:lpstr>Programming Language: C++ IDE: Visual Studio Data Structures: utilized arrays for storing the input user data File Handling: To store user data and match passwords to login   </vt:lpstr>
      <vt:lpstr>PowerPoint Presentation</vt:lpstr>
      <vt:lpstr>PowerPoint Presentation</vt:lpstr>
      <vt:lpstr>Implementation</vt:lpstr>
      <vt:lpstr>Key Features and Functionalities</vt:lpstr>
      <vt:lpstr>Conclusion</vt:lpstr>
      <vt:lpstr>The flight management system successfully fulfills its objectives by providing comprehensive functionality for administrators, crew members, and passengers.    </vt:lpstr>
      <vt:lpstr>PowerPoint Presentation</vt:lpstr>
      <vt:lpstr>PowerPoint Presentation</vt:lpstr>
      <vt:lpstr>PowerPoint Presentation</vt:lpstr>
      <vt:lpstr>PowerPoint Presentation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CSL-113</dc:title>
  <dc:creator>ZS</dc:creator>
  <cp:lastModifiedBy>R A B A B</cp:lastModifiedBy>
  <cp:revision>17</cp:revision>
  <dcterms:created xsi:type="dcterms:W3CDTF">2024-06-09T06:16:31Z</dcterms:created>
  <dcterms:modified xsi:type="dcterms:W3CDTF">2024-06-12T18:31:16Z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2019-08-30T00:00:00Z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2024-06-09T00:00:00Z</vt:filetime>
  </property>
  <property fmtid="{D5CDD505-2E9C-101B-9397-08002B2CF9AE}" pid="5" name="Producer">
    <vt:lpwstr>Microsoft® PowerPoint® 2013</vt:lpwstr>
  </property>
</Properties>
</file>