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73" r:id="rId14"/>
    <p:sldId id="274" r:id="rId15"/>
    <p:sldId id="279" r:id="rId16"/>
    <p:sldId id="280" r:id="rId17"/>
  </p:sldIdLst>
  <p:sldSz cx="18288000" cy="10287000"/>
  <p:notesSz cx="6858000" cy="9144000"/>
  <p:embeddedFontLst>
    <p:embeddedFont>
      <p:font typeface="Glacial Indifference" panose="020B0604020202020204" charset="0"/>
      <p:regular r:id="rId18"/>
    </p:embeddedFont>
    <p:embeddedFont>
      <p:font typeface="Glacial Indifference Bold" panose="020B0604020202020204" charset="0"/>
      <p:regular r:id="rId19"/>
    </p:embeddedFont>
    <p:embeddedFont>
      <p:font typeface="Yeseva One"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80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4.sv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4.sv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8.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24.svg"/></Relationships>
</file>

<file path=ppt/slides/_rels/slide1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34.sv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24.svg"/></Relationships>
</file>

<file path=ppt/slides/_rels/slide12.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23.png"/><Relationship Id="rId7" Type="http://schemas.openxmlformats.org/officeDocument/2006/relationships/image" Target="../media/image3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13.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24.svg"/></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42.svg"/></Relationships>
</file>

<file path=ppt/slides/_rels/slide15.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 Id="rId9" Type="http://schemas.openxmlformats.org/officeDocument/2006/relationships/image" Target="../media/image43.jpeg"/></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4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txBody>
          <a:bodyPr/>
          <a:lstStyle/>
          <a:p>
            <a:endParaRPr lang="en-US"/>
          </a:p>
        </p:txBody>
      </p:sp>
      <p:sp>
        <p:nvSpPr>
          <p:cNvPr id="3" name="Freeform 3"/>
          <p:cNvSpPr/>
          <p:nvPr/>
        </p:nvSpPr>
        <p:spPr>
          <a:xfrm>
            <a:off x="-1230184" y="4845467"/>
            <a:ext cx="7351517" cy="6161908"/>
          </a:xfrm>
          <a:custGeom>
            <a:avLst/>
            <a:gdLst/>
            <a:ahLst/>
            <a:cxnLst/>
            <a:rect l="l" t="t" r="r" b="b"/>
            <a:pathLst>
              <a:path w="7351517" h="6161908">
                <a:moveTo>
                  <a:pt x="0" y="0"/>
                </a:moveTo>
                <a:lnTo>
                  <a:pt x="7351517" y="0"/>
                </a:lnTo>
                <a:lnTo>
                  <a:pt x="7351517" y="6161908"/>
                </a:lnTo>
                <a:lnTo>
                  <a:pt x="0" y="61619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3717063" y="2590352"/>
            <a:ext cx="10726808" cy="4038991"/>
          </a:xfrm>
          <a:prstGeom prst="rect">
            <a:avLst/>
          </a:prstGeom>
        </p:spPr>
        <p:txBody>
          <a:bodyPr lIns="0" tIns="0" rIns="0" bIns="0" rtlCol="0" anchor="t">
            <a:spAutoFit/>
          </a:bodyPr>
          <a:lstStyle/>
          <a:p>
            <a:pPr marL="0" lvl="0" indent="0" algn="ctr">
              <a:lnSpc>
                <a:spcPts val="10800"/>
              </a:lnSpc>
              <a:spcBef>
                <a:spcPct val="0"/>
              </a:spcBef>
            </a:pPr>
            <a:r>
              <a:rPr lang="en-US" sz="6600" dirty="0">
                <a:solidFill>
                  <a:srgbClr val="FFFFFF"/>
                </a:solidFill>
                <a:latin typeface="Yeseva One"/>
                <a:ea typeface="Yeseva One"/>
                <a:cs typeface="Yeseva One"/>
                <a:sym typeface="Yeseva One"/>
              </a:rPr>
              <a:t>Film as a Medium of Mass Communication and as an Industry</a:t>
            </a:r>
          </a:p>
        </p:txBody>
      </p:sp>
      <p:sp>
        <p:nvSpPr>
          <p:cNvPr id="5" name="Freeform 5"/>
          <p:cNvSpPr/>
          <p:nvPr/>
        </p:nvSpPr>
        <p:spPr>
          <a:xfrm rot="1057904" flipH="1">
            <a:off x="13907800" y="625481"/>
            <a:ext cx="4971166" cy="4350613"/>
          </a:xfrm>
          <a:custGeom>
            <a:avLst/>
            <a:gdLst/>
            <a:ahLst/>
            <a:cxnLst/>
            <a:rect l="l" t="t" r="r" b="b"/>
            <a:pathLst>
              <a:path w="4971166" h="4350613">
                <a:moveTo>
                  <a:pt x="4971166" y="0"/>
                </a:moveTo>
                <a:lnTo>
                  <a:pt x="0" y="0"/>
                </a:lnTo>
                <a:lnTo>
                  <a:pt x="0" y="4350614"/>
                </a:lnTo>
                <a:lnTo>
                  <a:pt x="4971166" y="4350614"/>
                </a:lnTo>
                <a:lnTo>
                  <a:pt x="4971166"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rot="-10800000" flipV="1">
            <a:off x="13147387" y="9258300"/>
            <a:ext cx="10287000" cy="4881649"/>
          </a:xfrm>
          <a:custGeom>
            <a:avLst/>
            <a:gdLst/>
            <a:ahLst/>
            <a:cxnLst/>
            <a:rect l="l" t="t" r="r" b="b"/>
            <a:pathLst>
              <a:path w="10287000" h="4881649">
                <a:moveTo>
                  <a:pt x="0" y="4881649"/>
                </a:moveTo>
                <a:lnTo>
                  <a:pt x="10287000" y="4881649"/>
                </a:lnTo>
                <a:lnTo>
                  <a:pt x="10287000" y="0"/>
                </a:lnTo>
                <a:lnTo>
                  <a:pt x="0" y="0"/>
                </a:lnTo>
                <a:lnTo>
                  <a:pt x="0" y="4881649"/>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rot="5400000">
            <a:off x="12115800" y="9456167"/>
            <a:ext cx="574387" cy="574387"/>
          </a:xfrm>
          <a:custGeom>
            <a:avLst/>
            <a:gdLst/>
            <a:ahLst/>
            <a:cxnLst/>
            <a:rect l="l" t="t" r="r" b="b"/>
            <a:pathLst>
              <a:path w="574387" h="574387">
                <a:moveTo>
                  <a:pt x="0" y="0"/>
                </a:moveTo>
                <a:lnTo>
                  <a:pt x="574387" y="0"/>
                </a:lnTo>
                <a:lnTo>
                  <a:pt x="574387" y="574387"/>
                </a:lnTo>
                <a:lnTo>
                  <a:pt x="0" y="57438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8" name="Freeform 8"/>
          <p:cNvSpPr/>
          <p:nvPr/>
        </p:nvSpPr>
        <p:spPr>
          <a:xfrm rot="5400000">
            <a:off x="11084213" y="9456167"/>
            <a:ext cx="574387" cy="574387"/>
          </a:xfrm>
          <a:custGeom>
            <a:avLst/>
            <a:gdLst/>
            <a:ahLst/>
            <a:cxnLst/>
            <a:rect l="l" t="t" r="r" b="b"/>
            <a:pathLst>
              <a:path w="574387" h="574387">
                <a:moveTo>
                  <a:pt x="0" y="0"/>
                </a:moveTo>
                <a:lnTo>
                  <a:pt x="574387" y="0"/>
                </a:lnTo>
                <a:lnTo>
                  <a:pt x="574387" y="574387"/>
                </a:lnTo>
                <a:lnTo>
                  <a:pt x="0" y="57438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9" name="Freeform 9"/>
          <p:cNvSpPr/>
          <p:nvPr/>
        </p:nvSpPr>
        <p:spPr>
          <a:xfrm flipV="1">
            <a:off x="-4910060" y="-3852949"/>
            <a:ext cx="10287000" cy="4881649"/>
          </a:xfrm>
          <a:custGeom>
            <a:avLst/>
            <a:gdLst/>
            <a:ahLst/>
            <a:cxnLst/>
            <a:rect l="l" t="t" r="r" b="b"/>
            <a:pathLst>
              <a:path w="10287000" h="4881649">
                <a:moveTo>
                  <a:pt x="0" y="4881649"/>
                </a:moveTo>
                <a:lnTo>
                  <a:pt x="10287000" y="4881649"/>
                </a:lnTo>
                <a:lnTo>
                  <a:pt x="10287000" y="0"/>
                </a:lnTo>
                <a:lnTo>
                  <a:pt x="0" y="0"/>
                </a:lnTo>
                <a:lnTo>
                  <a:pt x="0" y="4881649"/>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0" name="Freeform 10"/>
          <p:cNvSpPr/>
          <p:nvPr/>
        </p:nvSpPr>
        <p:spPr>
          <a:xfrm rot="-5400000">
            <a:off x="5834140" y="256446"/>
            <a:ext cx="574387" cy="574387"/>
          </a:xfrm>
          <a:custGeom>
            <a:avLst/>
            <a:gdLst/>
            <a:ahLst/>
            <a:cxnLst/>
            <a:rect l="l" t="t" r="r" b="b"/>
            <a:pathLst>
              <a:path w="574387" h="574387">
                <a:moveTo>
                  <a:pt x="0" y="0"/>
                </a:moveTo>
                <a:lnTo>
                  <a:pt x="574386" y="0"/>
                </a:lnTo>
                <a:lnTo>
                  <a:pt x="574386" y="574387"/>
                </a:lnTo>
                <a:lnTo>
                  <a:pt x="0" y="57438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1" name="Freeform 11"/>
          <p:cNvSpPr/>
          <p:nvPr/>
        </p:nvSpPr>
        <p:spPr>
          <a:xfrm rot="-5400000">
            <a:off x="6865726" y="256446"/>
            <a:ext cx="574387" cy="574387"/>
          </a:xfrm>
          <a:custGeom>
            <a:avLst/>
            <a:gdLst/>
            <a:ahLst/>
            <a:cxnLst/>
            <a:rect l="l" t="t" r="r" b="b"/>
            <a:pathLst>
              <a:path w="574387" h="574387">
                <a:moveTo>
                  <a:pt x="0" y="0"/>
                </a:moveTo>
                <a:lnTo>
                  <a:pt x="574387" y="0"/>
                </a:lnTo>
                <a:lnTo>
                  <a:pt x="574387" y="574387"/>
                </a:lnTo>
                <a:lnTo>
                  <a:pt x="0" y="57438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3" name="TextBox 13"/>
          <p:cNvSpPr txBox="1"/>
          <p:nvPr/>
        </p:nvSpPr>
        <p:spPr>
          <a:xfrm>
            <a:off x="3780596" y="6689950"/>
            <a:ext cx="10726808" cy="1671933"/>
          </a:xfrm>
          <a:prstGeom prst="rect">
            <a:avLst/>
          </a:prstGeom>
        </p:spPr>
        <p:txBody>
          <a:bodyPr lIns="0" tIns="0" rIns="0" bIns="0" rtlCol="0" anchor="t">
            <a:spAutoFit/>
          </a:bodyPr>
          <a:lstStyle/>
          <a:p>
            <a:pPr algn="ctr">
              <a:lnSpc>
                <a:spcPts val="6824"/>
              </a:lnSpc>
              <a:spcBef>
                <a:spcPct val="0"/>
              </a:spcBef>
            </a:pPr>
            <a:r>
              <a:rPr lang="en-US" sz="4549" dirty="0">
                <a:solidFill>
                  <a:srgbClr val="FFFFFF"/>
                </a:solidFill>
                <a:latin typeface="Glacial Indifference"/>
                <a:ea typeface="Glacial Indifference"/>
                <a:cs typeface="Glacial Indifference"/>
                <a:sym typeface="Glacial Indifference"/>
              </a:rPr>
              <a:t>Presented by: Afra, </a:t>
            </a:r>
            <a:r>
              <a:rPr lang="en-US" sz="4549" dirty="0" err="1">
                <a:solidFill>
                  <a:srgbClr val="FFFFFF"/>
                </a:solidFill>
                <a:latin typeface="Glacial Indifference"/>
                <a:ea typeface="Glacial Indifference"/>
                <a:cs typeface="Glacial Indifference"/>
                <a:sym typeface="Glacial Indifference"/>
              </a:rPr>
              <a:t>Aiesha</a:t>
            </a:r>
            <a:r>
              <a:rPr lang="en-US" sz="4549" dirty="0">
                <a:solidFill>
                  <a:srgbClr val="FFFFFF"/>
                </a:solidFill>
                <a:latin typeface="Glacial Indifference"/>
                <a:ea typeface="Glacial Indifference"/>
                <a:cs typeface="Glacial Indifference"/>
                <a:sym typeface="Glacial Indifference"/>
              </a:rPr>
              <a:t>, </a:t>
            </a:r>
            <a:r>
              <a:rPr lang="en-US" sz="4549" dirty="0" err="1">
                <a:solidFill>
                  <a:srgbClr val="FFFFFF"/>
                </a:solidFill>
                <a:latin typeface="Glacial Indifference"/>
                <a:ea typeface="Glacial Indifference"/>
                <a:cs typeface="Glacial Indifference"/>
                <a:sym typeface="Glacial Indifference"/>
              </a:rPr>
              <a:t>Munesha</a:t>
            </a:r>
            <a:r>
              <a:rPr lang="en-US" sz="4549" dirty="0">
                <a:solidFill>
                  <a:srgbClr val="FFFFFF"/>
                </a:solidFill>
                <a:latin typeface="Glacial Indifference"/>
                <a:ea typeface="Glacial Indifference"/>
                <a:cs typeface="Glacial Indifference"/>
                <a:sym typeface="Glacial Indifference"/>
              </a:rPr>
              <a:t>, </a:t>
            </a:r>
          </a:p>
          <a:p>
            <a:pPr algn="ctr">
              <a:lnSpc>
                <a:spcPts val="6824"/>
              </a:lnSpc>
              <a:spcBef>
                <a:spcPct val="0"/>
              </a:spcBef>
            </a:pPr>
            <a:r>
              <a:rPr lang="en-US" sz="4549" dirty="0">
                <a:solidFill>
                  <a:srgbClr val="FFFFFF"/>
                </a:solidFill>
                <a:latin typeface="Glacial Indifference"/>
                <a:ea typeface="Glacial Indifference"/>
                <a:cs typeface="Glacial Indifference"/>
                <a:sym typeface="Glacial Indifference"/>
              </a:rPr>
              <a:t>Sabah, and Saniya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txBody>
          <a:bodyPr/>
          <a:lstStyle/>
          <a:p>
            <a:endParaRPr lang="en-US" dirty="0"/>
          </a:p>
        </p:txBody>
      </p:sp>
      <p:sp>
        <p:nvSpPr>
          <p:cNvPr id="3" name="TextBox 3"/>
          <p:cNvSpPr txBox="1"/>
          <p:nvPr/>
        </p:nvSpPr>
        <p:spPr>
          <a:xfrm>
            <a:off x="3081103" y="3502631"/>
            <a:ext cx="7322748" cy="923330"/>
          </a:xfrm>
          <a:prstGeom prst="rect">
            <a:avLst/>
          </a:prstGeom>
        </p:spPr>
        <p:txBody>
          <a:bodyPr lIns="0" tIns="0" rIns="0" bIns="0" rtlCol="0" anchor="t">
            <a:spAutoFit/>
          </a:bodyPr>
          <a:lstStyle/>
          <a:p>
            <a:pPr algn="l">
              <a:lnSpc>
                <a:spcPts val="8400"/>
              </a:lnSpc>
            </a:pPr>
            <a:r>
              <a:rPr lang="en-US" sz="3600" dirty="0">
                <a:solidFill>
                  <a:srgbClr val="174076"/>
                </a:solidFill>
                <a:latin typeface="Glacial Indifference"/>
                <a:ea typeface="Glacial Indifference"/>
                <a:cs typeface="Glacial Indifference"/>
                <a:sym typeface="Glacial Indifference"/>
              </a:rPr>
              <a:t>Introduction: </a:t>
            </a:r>
            <a:r>
              <a:rPr lang="en-US" sz="3600" dirty="0" err="1">
                <a:solidFill>
                  <a:srgbClr val="174076"/>
                </a:solidFill>
                <a:latin typeface="Glacial Indifference"/>
                <a:ea typeface="Glacial Indifference"/>
                <a:cs typeface="Glacial Indifference"/>
                <a:sym typeface="Glacial Indifference"/>
              </a:rPr>
              <a:t>What</a:t>
            </a:r>
            <a:r>
              <a:rPr lang="en-US" sz="3600" i="1" dirty="0" err="1">
                <a:solidFill>
                  <a:srgbClr val="174076"/>
                </a:solidFill>
                <a:latin typeface="Glacial Indifference"/>
                <a:ea typeface="Glacial Indifference"/>
                <a:cs typeface="Glacial Indifference"/>
                <a:sym typeface="Glacial Indifference"/>
              </a:rPr>
              <a:t>is</a:t>
            </a:r>
            <a:r>
              <a:rPr lang="en-US" sz="3600" i="1" dirty="0">
                <a:solidFill>
                  <a:srgbClr val="174076"/>
                </a:solidFill>
                <a:latin typeface="Glacial Indifference"/>
                <a:ea typeface="Glacial Indifference"/>
                <a:cs typeface="Glacial Indifference"/>
                <a:sym typeface="Glacial Indifference"/>
              </a:rPr>
              <a:t> </a:t>
            </a:r>
            <a:r>
              <a:rPr lang="en-US" sz="3600" dirty="0">
                <a:solidFill>
                  <a:srgbClr val="174076"/>
                </a:solidFill>
                <a:latin typeface="Glacial Indifference"/>
                <a:ea typeface="Glacial Indifference"/>
                <a:cs typeface="Glacial Indifference"/>
                <a:sym typeface="Glacial Indifference"/>
              </a:rPr>
              <a:t>Film?</a:t>
            </a:r>
          </a:p>
        </p:txBody>
      </p:sp>
      <p:grpSp>
        <p:nvGrpSpPr>
          <p:cNvPr id="4" name="Group 4"/>
          <p:cNvGrpSpPr/>
          <p:nvPr/>
        </p:nvGrpSpPr>
        <p:grpSpPr>
          <a:xfrm>
            <a:off x="1665286" y="3742615"/>
            <a:ext cx="771999" cy="771999"/>
            <a:chOff x="0" y="0"/>
            <a:chExt cx="6350000" cy="6350000"/>
          </a:xfrm>
        </p:grpSpPr>
        <p:sp>
          <p:nvSpPr>
            <p:cNvPr id="5" name="Freeform 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54946"/>
            </a:solidFill>
          </p:spPr>
          <p:txBody>
            <a:bodyPr/>
            <a:lstStyle/>
            <a:p>
              <a:endParaRPr lang="en-US"/>
            </a:p>
          </p:txBody>
        </p:sp>
      </p:grpSp>
      <p:sp>
        <p:nvSpPr>
          <p:cNvPr id="6" name="TextBox 6"/>
          <p:cNvSpPr txBox="1"/>
          <p:nvPr/>
        </p:nvSpPr>
        <p:spPr>
          <a:xfrm>
            <a:off x="1778680" y="3713134"/>
            <a:ext cx="545211" cy="688086"/>
          </a:xfrm>
          <a:prstGeom prst="rect">
            <a:avLst/>
          </a:prstGeom>
        </p:spPr>
        <p:txBody>
          <a:bodyPr lIns="0" tIns="0" rIns="0" bIns="0" rtlCol="0" anchor="t">
            <a:spAutoFit/>
          </a:bodyPr>
          <a:lstStyle/>
          <a:p>
            <a:pPr algn="ctr">
              <a:lnSpc>
                <a:spcPts val="5652"/>
              </a:lnSpc>
            </a:pPr>
            <a:r>
              <a:rPr lang="en-US" sz="3600">
                <a:solidFill>
                  <a:srgbClr val="FFFFFF"/>
                </a:solidFill>
                <a:latin typeface="Yeseva One"/>
                <a:ea typeface="Yeseva One"/>
                <a:cs typeface="Yeseva One"/>
                <a:sym typeface="Yeseva One"/>
              </a:rPr>
              <a:t>1</a:t>
            </a:r>
          </a:p>
        </p:txBody>
      </p:sp>
      <p:sp>
        <p:nvSpPr>
          <p:cNvPr id="7" name="TextBox 7"/>
          <p:cNvSpPr txBox="1"/>
          <p:nvPr/>
        </p:nvSpPr>
        <p:spPr>
          <a:xfrm>
            <a:off x="3081103" y="4784700"/>
            <a:ext cx="7322748" cy="923330"/>
          </a:xfrm>
          <a:prstGeom prst="rect">
            <a:avLst/>
          </a:prstGeom>
        </p:spPr>
        <p:txBody>
          <a:bodyPr lIns="0" tIns="0" rIns="0" bIns="0" rtlCol="0" anchor="t">
            <a:spAutoFit/>
          </a:bodyPr>
          <a:lstStyle/>
          <a:p>
            <a:pPr marL="0" lvl="1" indent="0" algn="l">
              <a:lnSpc>
                <a:spcPts val="8400"/>
              </a:lnSpc>
              <a:spcBef>
                <a:spcPct val="0"/>
              </a:spcBef>
            </a:pPr>
            <a:r>
              <a:rPr lang="en-US" sz="3600" dirty="0">
                <a:solidFill>
                  <a:srgbClr val="174076"/>
                </a:solidFill>
                <a:latin typeface="Glacial Indifference"/>
                <a:ea typeface="Glacial Indifference"/>
                <a:cs typeface="Glacial Indifference"/>
                <a:sym typeface="Glacial Indifference"/>
              </a:rPr>
              <a:t>Film as a Communicative Medium</a:t>
            </a:r>
          </a:p>
        </p:txBody>
      </p:sp>
      <p:grpSp>
        <p:nvGrpSpPr>
          <p:cNvPr id="8" name="Group 8"/>
          <p:cNvGrpSpPr/>
          <p:nvPr/>
        </p:nvGrpSpPr>
        <p:grpSpPr>
          <a:xfrm>
            <a:off x="1665286" y="5022455"/>
            <a:ext cx="771999" cy="771999"/>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54946"/>
            </a:solidFill>
          </p:spPr>
          <p:txBody>
            <a:bodyPr/>
            <a:lstStyle/>
            <a:p>
              <a:endParaRPr lang="en-US"/>
            </a:p>
          </p:txBody>
        </p:sp>
      </p:grpSp>
      <p:sp>
        <p:nvSpPr>
          <p:cNvPr id="10" name="TextBox 10"/>
          <p:cNvSpPr txBox="1"/>
          <p:nvPr/>
        </p:nvSpPr>
        <p:spPr>
          <a:xfrm>
            <a:off x="1778680" y="4992974"/>
            <a:ext cx="545211" cy="688086"/>
          </a:xfrm>
          <a:prstGeom prst="rect">
            <a:avLst/>
          </a:prstGeom>
        </p:spPr>
        <p:txBody>
          <a:bodyPr lIns="0" tIns="0" rIns="0" bIns="0" rtlCol="0" anchor="t">
            <a:spAutoFit/>
          </a:bodyPr>
          <a:lstStyle/>
          <a:p>
            <a:pPr marL="0" lvl="1" indent="0" algn="ctr">
              <a:lnSpc>
                <a:spcPts val="5652"/>
              </a:lnSpc>
              <a:spcBef>
                <a:spcPct val="0"/>
              </a:spcBef>
            </a:pPr>
            <a:r>
              <a:rPr lang="en-US" sz="3600" u="none">
                <a:solidFill>
                  <a:srgbClr val="FFFFFF"/>
                </a:solidFill>
                <a:latin typeface="Yeseva One"/>
                <a:ea typeface="Yeseva One"/>
                <a:cs typeface="Yeseva One"/>
                <a:sym typeface="Yeseva One"/>
              </a:rPr>
              <a:t>2</a:t>
            </a:r>
          </a:p>
        </p:txBody>
      </p:sp>
      <p:sp>
        <p:nvSpPr>
          <p:cNvPr id="11" name="TextBox 11"/>
          <p:cNvSpPr txBox="1"/>
          <p:nvPr/>
        </p:nvSpPr>
        <p:spPr>
          <a:xfrm>
            <a:off x="3081103" y="7348836"/>
            <a:ext cx="7322748" cy="923330"/>
          </a:xfrm>
          <a:prstGeom prst="rect">
            <a:avLst/>
          </a:prstGeom>
        </p:spPr>
        <p:txBody>
          <a:bodyPr lIns="0" tIns="0" rIns="0" bIns="0" rtlCol="0" anchor="t">
            <a:spAutoFit/>
          </a:bodyPr>
          <a:lstStyle/>
          <a:p>
            <a:pPr marL="0" lvl="1" indent="0" algn="l">
              <a:lnSpc>
                <a:spcPts val="8400"/>
              </a:lnSpc>
              <a:spcBef>
                <a:spcPct val="0"/>
              </a:spcBef>
            </a:pPr>
            <a:r>
              <a:rPr lang="en-US" sz="3600" dirty="0">
                <a:solidFill>
                  <a:srgbClr val="174076"/>
                </a:solidFill>
                <a:latin typeface="Glacial Indifference"/>
                <a:ea typeface="Glacial Indifference"/>
                <a:cs typeface="Glacial Indifference"/>
                <a:sym typeface="Glacial Indifference"/>
              </a:rPr>
              <a:t>Impacts, Challenges, and Conclusion</a:t>
            </a:r>
          </a:p>
        </p:txBody>
      </p:sp>
      <p:grpSp>
        <p:nvGrpSpPr>
          <p:cNvPr id="12" name="Group 12"/>
          <p:cNvGrpSpPr/>
          <p:nvPr/>
        </p:nvGrpSpPr>
        <p:grpSpPr>
          <a:xfrm>
            <a:off x="1665286" y="7582136"/>
            <a:ext cx="771999" cy="771999"/>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54946"/>
            </a:solidFill>
          </p:spPr>
          <p:txBody>
            <a:bodyPr/>
            <a:lstStyle/>
            <a:p>
              <a:endParaRPr lang="en-US"/>
            </a:p>
          </p:txBody>
        </p:sp>
      </p:grpSp>
      <p:sp>
        <p:nvSpPr>
          <p:cNvPr id="14" name="TextBox 14"/>
          <p:cNvSpPr txBox="1"/>
          <p:nvPr/>
        </p:nvSpPr>
        <p:spPr>
          <a:xfrm>
            <a:off x="1778680" y="7552655"/>
            <a:ext cx="545211" cy="688086"/>
          </a:xfrm>
          <a:prstGeom prst="rect">
            <a:avLst/>
          </a:prstGeom>
        </p:spPr>
        <p:txBody>
          <a:bodyPr lIns="0" tIns="0" rIns="0" bIns="0" rtlCol="0" anchor="t">
            <a:spAutoFit/>
          </a:bodyPr>
          <a:lstStyle/>
          <a:p>
            <a:pPr marL="0" lvl="1" indent="0" algn="ctr">
              <a:lnSpc>
                <a:spcPts val="5652"/>
              </a:lnSpc>
              <a:spcBef>
                <a:spcPct val="0"/>
              </a:spcBef>
            </a:pPr>
            <a:r>
              <a:rPr lang="en-US" sz="3600" u="none">
                <a:solidFill>
                  <a:srgbClr val="FFFFFF"/>
                </a:solidFill>
                <a:latin typeface="Yeseva One"/>
                <a:ea typeface="Yeseva One"/>
                <a:cs typeface="Yeseva One"/>
                <a:sym typeface="Yeseva One"/>
              </a:rPr>
              <a:t>4</a:t>
            </a:r>
          </a:p>
        </p:txBody>
      </p:sp>
      <p:sp>
        <p:nvSpPr>
          <p:cNvPr id="15" name="TextBox 15"/>
          <p:cNvSpPr txBox="1"/>
          <p:nvPr/>
        </p:nvSpPr>
        <p:spPr>
          <a:xfrm>
            <a:off x="3081103" y="6066768"/>
            <a:ext cx="7322748" cy="923330"/>
          </a:xfrm>
          <a:prstGeom prst="rect">
            <a:avLst/>
          </a:prstGeom>
        </p:spPr>
        <p:txBody>
          <a:bodyPr lIns="0" tIns="0" rIns="0" bIns="0" rtlCol="0" anchor="t">
            <a:spAutoFit/>
          </a:bodyPr>
          <a:lstStyle/>
          <a:p>
            <a:pPr marL="0" lvl="1" indent="0" algn="l">
              <a:lnSpc>
                <a:spcPts val="8400"/>
              </a:lnSpc>
              <a:spcBef>
                <a:spcPct val="0"/>
              </a:spcBef>
            </a:pPr>
            <a:r>
              <a:rPr lang="en-US" sz="3600" dirty="0">
                <a:solidFill>
                  <a:srgbClr val="174076"/>
                </a:solidFill>
                <a:latin typeface="Glacial Indifference"/>
                <a:ea typeface="Glacial Indifference"/>
                <a:cs typeface="Glacial Indifference"/>
                <a:sym typeface="Glacial Indifference"/>
              </a:rPr>
              <a:t>Film Industry as a Business</a:t>
            </a:r>
          </a:p>
        </p:txBody>
      </p:sp>
      <p:grpSp>
        <p:nvGrpSpPr>
          <p:cNvPr id="16" name="Group 16"/>
          <p:cNvGrpSpPr/>
          <p:nvPr/>
        </p:nvGrpSpPr>
        <p:grpSpPr>
          <a:xfrm>
            <a:off x="1665286" y="6302296"/>
            <a:ext cx="771999" cy="771999"/>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54946"/>
            </a:solidFill>
          </p:spPr>
          <p:txBody>
            <a:bodyPr/>
            <a:lstStyle/>
            <a:p>
              <a:endParaRPr lang="en-US"/>
            </a:p>
          </p:txBody>
        </p:sp>
      </p:grpSp>
      <p:sp>
        <p:nvSpPr>
          <p:cNvPr id="18" name="TextBox 18"/>
          <p:cNvSpPr txBox="1"/>
          <p:nvPr/>
        </p:nvSpPr>
        <p:spPr>
          <a:xfrm>
            <a:off x="1778680" y="6272815"/>
            <a:ext cx="545211" cy="688086"/>
          </a:xfrm>
          <a:prstGeom prst="rect">
            <a:avLst/>
          </a:prstGeom>
        </p:spPr>
        <p:txBody>
          <a:bodyPr lIns="0" tIns="0" rIns="0" bIns="0" rtlCol="0" anchor="t">
            <a:spAutoFit/>
          </a:bodyPr>
          <a:lstStyle/>
          <a:p>
            <a:pPr marL="0" lvl="1" indent="0" algn="ctr">
              <a:lnSpc>
                <a:spcPts val="5652"/>
              </a:lnSpc>
              <a:spcBef>
                <a:spcPct val="0"/>
              </a:spcBef>
            </a:pPr>
            <a:r>
              <a:rPr lang="en-US" sz="3600" u="none">
                <a:solidFill>
                  <a:srgbClr val="FFFFFF"/>
                </a:solidFill>
                <a:latin typeface="Yeseva One"/>
                <a:ea typeface="Yeseva One"/>
                <a:cs typeface="Yeseva One"/>
                <a:sym typeface="Yeseva One"/>
              </a:rPr>
              <a:t>3</a:t>
            </a:r>
          </a:p>
        </p:txBody>
      </p:sp>
      <p:sp>
        <p:nvSpPr>
          <p:cNvPr id="19" name="TextBox 19"/>
          <p:cNvSpPr txBox="1"/>
          <p:nvPr/>
        </p:nvSpPr>
        <p:spPr>
          <a:xfrm>
            <a:off x="1665286" y="1923340"/>
            <a:ext cx="8273290" cy="1104900"/>
          </a:xfrm>
          <a:prstGeom prst="rect">
            <a:avLst/>
          </a:prstGeom>
        </p:spPr>
        <p:txBody>
          <a:bodyPr lIns="0" tIns="0" rIns="0" bIns="0" rtlCol="0" anchor="t">
            <a:spAutoFit/>
          </a:bodyPr>
          <a:lstStyle/>
          <a:p>
            <a:pPr marL="0" lvl="0" indent="0" algn="l">
              <a:lnSpc>
                <a:spcPts val="8640"/>
              </a:lnSpc>
              <a:spcBef>
                <a:spcPct val="0"/>
              </a:spcBef>
            </a:pPr>
            <a:r>
              <a:rPr lang="en-US" sz="7200">
                <a:solidFill>
                  <a:srgbClr val="174076"/>
                </a:solidFill>
                <a:latin typeface="Yeseva One"/>
                <a:ea typeface="Yeseva One"/>
                <a:cs typeface="Yeseva One"/>
                <a:sym typeface="Yeseva One"/>
              </a:rPr>
              <a:t>Contents</a:t>
            </a:r>
          </a:p>
        </p:txBody>
      </p:sp>
      <p:sp>
        <p:nvSpPr>
          <p:cNvPr id="20" name="Freeform 20"/>
          <p:cNvSpPr/>
          <p:nvPr/>
        </p:nvSpPr>
        <p:spPr>
          <a:xfrm rot="7966260" flipH="1">
            <a:off x="9058963" y="4099497"/>
            <a:ext cx="15296673" cy="7258967"/>
          </a:xfrm>
          <a:custGeom>
            <a:avLst/>
            <a:gdLst/>
            <a:ahLst/>
            <a:cxnLst/>
            <a:rect l="l" t="t" r="r" b="b"/>
            <a:pathLst>
              <a:path w="15296673" h="7258967">
                <a:moveTo>
                  <a:pt x="15296673" y="0"/>
                </a:moveTo>
                <a:lnTo>
                  <a:pt x="0" y="0"/>
                </a:lnTo>
                <a:lnTo>
                  <a:pt x="0" y="7258967"/>
                </a:lnTo>
                <a:lnTo>
                  <a:pt x="15296673" y="7258967"/>
                </a:lnTo>
                <a:lnTo>
                  <a:pt x="15296673"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1" name="Freeform 21"/>
          <p:cNvSpPr/>
          <p:nvPr/>
        </p:nvSpPr>
        <p:spPr>
          <a:xfrm>
            <a:off x="11173691" y="1054499"/>
            <a:ext cx="6733309" cy="8229600"/>
          </a:xfrm>
          <a:custGeom>
            <a:avLst/>
            <a:gdLst/>
            <a:ahLst/>
            <a:cxnLst/>
            <a:rect l="l" t="t" r="r" b="b"/>
            <a:pathLst>
              <a:path w="6733309" h="8229600">
                <a:moveTo>
                  <a:pt x="0" y="0"/>
                </a:moveTo>
                <a:lnTo>
                  <a:pt x="6733309" y="0"/>
                </a:lnTo>
                <a:lnTo>
                  <a:pt x="6733309" y="8229600"/>
                </a:lnTo>
                <a:lnTo>
                  <a:pt x="0" y="82296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txBody>
          <a:bodyPr/>
          <a:lstStyle/>
          <a:p>
            <a:endParaRPr lang="en-US"/>
          </a:p>
        </p:txBody>
      </p:sp>
      <p:sp>
        <p:nvSpPr>
          <p:cNvPr id="3" name="Freeform 3"/>
          <p:cNvSpPr/>
          <p:nvPr/>
        </p:nvSpPr>
        <p:spPr>
          <a:xfrm>
            <a:off x="1319218" y="1379921"/>
            <a:ext cx="6935198" cy="7517543"/>
          </a:xfrm>
          <a:custGeom>
            <a:avLst/>
            <a:gdLst/>
            <a:ahLst/>
            <a:cxnLst/>
            <a:rect l="l" t="t" r="r" b="b"/>
            <a:pathLst>
              <a:path w="6935198" h="7517543">
                <a:moveTo>
                  <a:pt x="0" y="0"/>
                </a:moveTo>
                <a:lnTo>
                  <a:pt x="6935198" y="0"/>
                </a:lnTo>
                <a:lnTo>
                  <a:pt x="6935198" y="7517543"/>
                </a:lnTo>
                <a:lnTo>
                  <a:pt x="0" y="751754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9405687" y="3568552"/>
            <a:ext cx="7853613" cy="2462213"/>
          </a:xfrm>
          <a:prstGeom prst="rect">
            <a:avLst/>
          </a:prstGeom>
        </p:spPr>
        <p:txBody>
          <a:bodyPr lIns="0" tIns="0" rIns="0" bIns="0" rtlCol="0" anchor="t">
            <a:spAutoFit/>
          </a:bodyPr>
          <a:lstStyle/>
          <a:p>
            <a:pPr marL="0" lvl="0" indent="0" algn="l">
              <a:lnSpc>
                <a:spcPts val="9570"/>
              </a:lnSpc>
            </a:pPr>
            <a:r>
              <a:rPr lang="en-US" sz="8700" dirty="0">
                <a:solidFill>
                  <a:srgbClr val="FFFFFF"/>
                </a:solidFill>
                <a:latin typeface="Yeseva One"/>
                <a:ea typeface="Yeseva One"/>
                <a:cs typeface="Yeseva One"/>
                <a:sym typeface="Yeseva One"/>
              </a:rPr>
              <a:t>Defining</a:t>
            </a:r>
          </a:p>
          <a:p>
            <a:pPr marL="0" lvl="0" indent="0" algn="l">
              <a:lnSpc>
                <a:spcPts val="9570"/>
              </a:lnSpc>
            </a:pPr>
            <a:r>
              <a:rPr lang="en-US" sz="8700" dirty="0">
                <a:solidFill>
                  <a:srgbClr val="FFFFFF"/>
                </a:solidFill>
                <a:latin typeface="Yeseva One"/>
                <a:ea typeface="Yeseva One"/>
                <a:cs typeface="Yeseva One"/>
                <a:sym typeface="Yeseva One"/>
              </a:rPr>
              <a:t>Film</a:t>
            </a:r>
          </a:p>
        </p:txBody>
      </p:sp>
      <p:sp>
        <p:nvSpPr>
          <p:cNvPr id="5" name="Freeform 5"/>
          <p:cNvSpPr/>
          <p:nvPr/>
        </p:nvSpPr>
        <p:spPr>
          <a:xfrm flipV="1">
            <a:off x="-4910060" y="-3852949"/>
            <a:ext cx="10287000" cy="4881649"/>
          </a:xfrm>
          <a:custGeom>
            <a:avLst/>
            <a:gdLst/>
            <a:ahLst/>
            <a:cxnLst/>
            <a:rect l="l" t="t" r="r" b="b"/>
            <a:pathLst>
              <a:path w="10287000" h="4881649">
                <a:moveTo>
                  <a:pt x="0" y="4881649"/>
                </a:moveTo>
                <a:lnTo>
                  <a:pt x="10287000" y="4881649"/>
                </a:lnTo>
                <a:lnTo>
                  <a:pt x="10287000" y="0"/>
                </a:lnTo>
                <a:lnTo>
                  <a:pt x="0" y="0"/>
                </a:lnTo>
                <a:lnTo>
                  <a:pt x="0" y="4881649"/>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rot="-5400000">
            <a:off x="5834140" y="256446"/>
            <a:ext cx="574387" cy="574387"/>
          </a:xfrm>
          <a:custGeom>
            <a:avLst/>
            <a:gdLst/>
            <a:ahLst/>
            <a:cxnLst/>
            <a:rect l="l" t="t" r="r" b="b"/>
            <a:pathLst>
              <a:path w="574387" h="574387">
                <a:moveTo>
                  <a:pt x="0" y="0"/>
                </a:moveTo>
                <a:lnTo>
                  <a:pt x="574386" y="0"/>
                </a:lnTo>
                <a:lnTo>
                  <a:pt x="574386" y="574387"/>
                </a:lnTo>
                <a:lnTo>
                  <a:pt x="0" y="5743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rot="-5400000">
            <a:off x="6865726" y="256446"/>
            <a:ext cx="574387" cy="574387"/>
          </a:xfrm>
          <a:custGeom>
            <a:avLst/>
            <a:gdLst/>
            <a:ahLst/>
            <a:cxnLst/>
            <a:rect l="l" t="t" r="r" b="b"/>
            <a:pathLst>
              <a:path w="574387" h="574387">
                <a:moveTo>
                  <a:pt x="0" y="0"/>
                </a:moveTo>
                <a:lnTo>
                  <a:pt x="574387" y="0"/>
                </a:lnTo>
                <a:lnTo>
                  <a:pt x="574387" y="574387"/>
                </a:lnTo>
                <a:lnTo>
                  <a:pt x="0" y="5743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8" name="Freeform 8"/>
          <p:cNvSpPr/>
          <p:nvPr/>
        </p:nvSpPr>
        <p:spPr>
          <a:xfrm rot="-10800000" flipV="1">
            <a:off x="13147387" y="9258300"/>
            <a:ext cx="10287000" cy="4881649"/>
          </a:xfrm>
          <a:custGeom>
            <a:avLst/>
            <a:gdLst/>
            <a:ahLst/>
            <a:cxnLst/>
            <a:rect l="l" t="t" r="r" b="b"/>
            <a:pathLst>
              <a:path w="10287000" h="4881649">
                <a:moveTo>
                  <a:pt x="0" y="4881649"/>
                </a:moveTo>
                <a:lnTo>
                  <a:pt x="10287000" y="4881649"/>
                </a:lnTo>
                <a:lnTo>
                  <a:pt x="10287000" y="0"/>
                </a:lnTo>
                <a:lnTo>
                  <a:pt x="0" y="0"/>
                </a:lnTo>
                <a:lnTo>
                  <a:pt x="0" y="4881649"/>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Freeform 9"/>
          <p:cNvSpPr/>
          <p:nvPr/>
        </p:nvSpPr>
        <p:spPr>
          <a:xfrm rot="5400000">
            <a:off x="12115800" y="9456167"/>
            <a:ext cx="574387" cy="574387"/>
          </a:xfrm>
          <a:custGeom>
            <a:avLst/>
            <a:gdLst/>
            <a:ahLst/>
            <a:cxnLst/>
            <a:rect l="l" t="t" r="r" b="b"/>
            <a:pathLst>
              <a:path w="574387" h="574387">
                <a:moveTo>
                  <a:pt x="0" y="0"/>
                </a:moveTo>
                <a:lnTo>
                  <a:pt x="574387" y="0"/>
                </a:lnTo>
                <a:lnTo>
                  <a:pt x="574387" y="574387"/>
                </a:lnTo>
                <a:lnTo>
                  <a:pt x="0" y="5743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0" name="Freeform 10"/>
          <p:cNvSpPr/>
          <p:nvPr/>
        </p:nvSpPr>
        <p:spPr>
          <a:xfrm rot="5400000">
            <a:off x="11084213" y="9456167"/>
            <a:ext cx="574387" cy="574387"/>
          </a:xfrm>
          <a:custGeom>
            <a:avLst/>
            <a:gdLst/>
            <a:ahLst/>
            <a:cxnLst/>
            <a:rect l="l" t="t" r="r" b="b"/>
            <a:pathLst>
              <a:path w="574387" h="574387">
                <a:moveTo>
                  <a:pt x="0" y="0"/>
                </a:moveTo>
                <a:lnTo>
                  <a:pt x="574387" y="0"/>
                </a:lnTo>
                <a:lnTo>
                  <a:pt x="574387" y="574387"/>
                </a:lnTo>
                <a:lnTo>
                  <a:pt x="0" y="5743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txBody>
          <a:bodyPr/>
          <a:lstStyle/>
          <a:p>
            <a:endParaRPr lang="en-US"/>
          </a:p>
        </p:txBody>
      </p:sp>
      <p:grpSp>
        <p:nvGrpSpPr>
          <p:cNvPr id="3" name="Group 3"/>
          <p:cNvGrpSpPr/>
          <p:nvPr/>
        </p:nvGrpSpPr>
        <p:grpSpPr>
          <a:xfrm>
            <a:off x="2160042" y="2543238"/>
            <a:ext cx="13967915" cy="6715062"/>
            <a:chOff x="0" y="0"/>
            <a:chExt cx="3678793" cy="1768576"/>
          </a:xfrm>
        </p:grpSpPr>
        <p:sp>
          <p:nvSpPr>
            <p:cNvPr id="4" name="Freeform 4"/>
            <p:cNvSpPr/>
            <p:nvPr/>
          </p:nvSpPr>
          <p:spPr>
            <a:xfrm>
              <a:off x="0" y="0"/>
              <a:ext cx="3678793" cy="1768576"/>
            </a:xfrm>
            <a:custGeom>
              <a:avLst/>
              <a:gdLst/>
              <a:ahLst/>
              <a:cxnLst/>
              <a:rect l="l" t="t" r="r" b="b"/>
              <a:pathLst>
                <a:path w="3678793" h="1768576">
                  <a:moveTo>
                    <a:pt x="0" y="0"/>
                  </a:moveTo>
                  <a:lnTo>
                    <a:pt x="3678793" y="0"/>
                  </a:lnTo>
                  <a:lnTo>
                    <a:pt x="3678793" y="1768576"/>
                  </a:lnTo>
                  <a:lnTo>
                    <a:pt x="0" y="1768576"/>
                  </a:lnTo>
                  <a:close/>
                </a:path>
              </a:pathLst>
            </a:custGeom>
            <a:solidFill>
              <a:srgbClr val="C5E5DE"/>
            </a:solidFill>
          </p:spPr>
          <p:txBody>
            <a:bodyPr/>
            <a:lstStyle/>
            <a:p>
              <a:endParaRPr lang="en-US"/>
            </a:p>
          </p:txBody>
        </p:sp>
        <p:sp>
          <p:nvSpPr>
            <p:cNvPr id="5" name="TextBox 5"/>
            <p:cNvSpPr txBox="1"/>
            <p:nvPr/>
          </p:nvSpPr>
          <p:spPr>
            <a:xfrm>
              <a:off x="0" y="-66675"/>
              <a:ext cx="3678793" cy="1835251"/>
            </a:xfrm>
            <a:prstGeom prst="rect">
              <a:avLst/>
            </a:prstGeom>
          </p:spPr>
          <p:txBody>
            <a:bodyPr lIns="50800" tIns="50800" rIns="50800" bIns="50800" rtlCol="0" anchor="ctr"/>
            <a:lstStyle/>
            <a:p>
              <a:pPr algn="ctr">
                <a:lnSpc>
                  <a:spcPts val="3150"/>
                </a:lnSpc>
              </a:pPr>
              <a:endParaRPr/>
            </a:p>
          </p:txBody>
        </p:sp>
      </p:grpSp>
      <p:sp>
        <p:nvSpPr>
          <p:cNvPr id="6" name="TextBox 6"/>
          <p:cNvSpPr txBox="1"/>
          <p:nvPr/>
        </p:nvSpPr>
        <p:spPr>
          <a:xfrm>
            <a:off x="2837299" y="3768775"/>
            <a:ext cx="12613400" cy="4263988"/>
          </a:xfrm>
          <a:prstGeom prst="rect">
            <a:avLst/>
          </a:prstGeom>
        </p:spPr>
        <p:txBody>
          <a:bodyPr lIns="0" tIns="0" rIns="0" bIns="0" rtlCol="0" anchor="t">
            <a:spAutoFit/>
          </a:bodyPr>
          <a:lstStyle/>
          <a:p>
            <a:pPr algn="ctr">
              <a:lnSpc>
                <a:spcPts val="4199"/>
              </a:lnSpc>
            </a:pPr>
            <a:r>
              <a:rPr lang="en-US" sz="2799" dirty="0">
                <a:solidFill>
                  <a:srgbClr val="174076"/>
                </a:solidFill>
                <a:latin typeface="Glacial Indifference"/>
                <a:ea typeface="Glacial Indifference"/>
                <a:cs typeface="Glacial Indifference"/>
                <a:sym typeface="Glacial Indifference"/>
              </a:rPr>
              <a:t>Film is a powerful form of mass communication that conveys messages, emotions, and narratives to a wide audience.</a:t>
            </a:r>
          </a:p>
          <a:p>
            <a:pPr algn="ctr">
              <a:lnSpc>
                <a:spcPts val="4199"/>
              </a:lnSpc>
            </a:pPr>
            <a:endParaRPr lang="en-US" sz="2799" dirty="0">
              <a:solidFill>
                <a:srgbClr val="174076"/>
              </a:solidFill>
              <a:latin typeface="Glacial Indifference"/>
              <a:ea typeface="Glacial Indifference"/>
              <a:cs typeface="Glacial Indifference"/>
              <a:sym typeface="Glacial Indifference"/>
            </a:endParaRPr>
          </a:p>
          <a:p>
            <a:pPr algn="ctr">
              <a:lnSpc>
                <a:spcPts val="4199"/>
              </a:lnSpc>
            </a:pPr>
            <a:r>
              <a:rPr lang="en-US" sz="2799" dirty="0">
                <a:solidFill>
                  <a:srgbClr val="174076"/>
                </a:solidFill>
                <a:latin typeface="Glacial Indifference"/>
                <a:ea typeface="Glacial Indifference"/>
                <a:cs typeface="Glacial Indifference"/>
                <a:sym typeface="Glacial Indifference"/>
              </a:rPr>
              <a:t>As a communication medium, the purpose of a film is to inform, entertain, educate, and influence public opinion.</a:t>
            </a:r>
          </a:p>
          <a:p>
            <a:pPr algn="ctr">
              <a:lnSpc>
                <a:spcPts val="4199"/>
              </a:lnSpc>
            </a:pPr>
            <a:endParaRPr lang="en-US" sz="2799" dirty="0">
              <a:solidFill>
                <a:srgbClr val="174076"/>
              </a:solidFill>
              <a:latin typeface="Glacial Indifference"/>
              <a:ea typeface="Glacial Indifference"/>
              <a:cs typeface="Glacial Indifference"/>
              <a:sym typeface="Glacial Indifference"/>
            </a:endParaRPr>
          </a:p>
          <a:p>
            <a:pPr algn="ctr">
              <a:lnSpc>
                <a:spcPts val="4199"/>
              </a:lnSpc>
            </a:pPr>
            <a:r>
              <a:rPr lang="en-US" sz="2799" dirty="0">
                <a:solidFill>
                  <a:srgbClr val="174076"/>
                </a:solidFill>
                <a:latin typeface="Glacial Indifference"/>
                <a:ea typeface="Glacial Indifference"/>
                <a:cs typeface="Glacial Indifference"/>
                <a:sym typeface="Glacial Indifference"/>
              </a:rPr>
              <a:t>On the flip side, it has a bit more of a materialistic agenda, i.e., generating billions of dollars through production, distribution, and exhibition.</a:t>
            </a:r>
          </a:p>
        </p:txBody>
      </p:sp>
      <p:sp>
        <p:nvSpPr>
          <p:cNvPr id="7" name="Freeform 7"/>
          <p:cNvSpPr/>
          <p:nvPr/>
        </p:nvSpPr>
        <p:spPr>
          <a:xfrm rot="5400000" flipH="1">
            <a:off x="-6555625" y="-2440825"/>
            <a:ext cx="10287000" cy="4881649"/>
          </a:xfrm>
          <a:custGeom>
            <a:avLst/>
            <a:gdLst/>
            <a:ahLst/>
            <a:cxnLst/>
            <a:rect l="l" t="t" r="r" b="b"/>
            <a:pathLst>
              <a:path w="10287000" h="4881649">
                <a:moveTo>
                  <a:pt x="10287000" y="0"/>
                </a:moveTo>
                <a:lnTo>
                  <a:pt x="0" y="0"/>
                </a:lnTo>
                <a:lnTo>
                  <a:pt x="0" y="4881650"/>
                </a:lnTo>
                <a:lnTo>
                  <a:pt x="10287000" y="4881650"/>
                </a:lnTo>
                <a:lnTo>
                  <a:pt x="1028700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rot="-5400000" flipH="1">
            <a:off x="14556625" y="7846175"/>
            <a:ext cx="10287000" cy="4881649"/>
          </a:xfrm>
          <a:custGeom>
            <a:avLst/>
            <a:gdLst/>
            <a:ahLst/>
            <a:cxnLst/>
            <a:rect l="l" t="t" r="r" b="b"/>
            <a:pathLst>
              <a:path w="10287000" h="4881649">
                <a:moveTo>
                  <a:pt x="10287000" y="0"/>
                </a:moveTo>
                <a:lnTo>
                  <a:pt x="0" y="0"/>
                </a:lnTo>
                <a:lnTo>
                  <a:pt x="0" y="4881650"/>
                </a:lnTo>
                <a:lnTo>
                  <a:pt x="10287000" y="4881650"/>
                </a:lnTo>
                <a:lnTo>
                  <a:pt x="1028700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221876" y="5597071"/>
            <a:ext cx="574387" cy="574387"/>
          </a:xfrm>
          <a:custGeom>
            <a:avLst/>
            <a:gdLst/>
            <a:ahLst/>
            <a:cxnLst/>
            <a:rect l="l" t="t" r="r" b="b"/>
            <a:pathLst>
              <a:path w="574387" h="574387">
                <a:moveTo>
                  <a:pt x="0" y="0"/>
                </a:moveTo>
                <a:lnTo>
                  <a:pt x="574387" y="0"/>
                </a:lnTo>
                <a:lnTo>
                  <a:pt x="574387" y="574387"/>
                </a:lnTo>
                <a:lnTo>
                  <a:pt x="0" y="57438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Freeform 10"/>
          <p:cNvSpPr/>
          <p:nvPr/>
        </p:nvSpPr>
        <p:spPr>
          <a:xfrm>
            <a:off x="221876" y="6628658"/>
            <a:ext cx="574387" cy="574387"/>
          </a:xfrm>
          <a:custGeom>
            <a:avLst/>
            <a:gdLst/>
            <a:ahLst/>
            <a:cxnLst/>
            <a:rect l="l" t="t" r="r" b="b"/>
            <a:pathLst>
              <a:path w="574387" h="574387">
                <a:moveTo>
                  <a:pt x="0" y="0"/>
                </a:moveTo>
                <a:lnTo>
                  <a:pt x="574387" y="0"/>
                </a:lnTo>
                <a:lnTo>
                  <a:pt x="574387" y="574386"/>
                </a:lnTo>
                <a:lnTo>
                  <a:pt x="0" y="57438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1" name="TextBox 11"/>
          <p:cNvSpPr txBox="1"/>
          <p:nvPr/>
        </p:nvSpPr>
        <p:spPr>
          <a:xfrm>
            <a:off x="1791073" y="1019175"/>
            <a:ext cx="14705854" cy="1104900"/>
          </a:xfrm>
          <a:prstGeom prst="rect">
            <a:avLst/>
          </a:prstGeom>
        </p:spPr>
        <p:txBody>
          <a:bodyPr lIns="0" tIns="0" rIns="0" bIns="0" rtlCol="0" anchor="t">
            <a:spAutoFit/>
          </a:bodyPr>
          <a:lstStyle/>
          <a:p>
            <a:pPr marL="0" lvl="0" indent="0" algn="ctr">
              <a:lnSpc>
                <a:spcPts val="8640"/>
              </a:lnSpc>
              <a:spcBef>
                <a:spcPct val="0"/>
              </a:spcBef>
            </a:pPr>
            <a:r>
              <a:rPr lang="en-US" sz="7200" dirty="0">
                <a:solidFill>
                  <a:srgbClr val="174076"/>
                </a:solidFill>
                <a:latin typeface="Yeseva One"/>
                <a:ea typeface="Yeseva One"/>
                <a:cs typeface="Yeseva One"/>
                <a:sym typeface="Yeseva One"/>
              </a:rPr>
              <a:t>What is a film?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txBody>
          <a:bodyPr/>
          <a:lstStyle/>
          <a:p>
            <a:endParaRPr lang="en-US"/>
          </a:p>
        </p:txBody>
      </p:sp>
      <p:grpSp>
        <p:nvGrpSpPr>
          <p:cNvPr id="3" name="Group 3"/>
          <p:cNvGrpSpPr/>
          <p:nvPr/>
        </p:nvGrpSpPr>
        <p:grpSpPr>
          <a:xfrm>
            <a:off x="9480234" y="2454200"/>
            <a:ext cx="7422123" cy="1659485"/>
            <a:chOff x="0" y="0"/>
            <a:chExt cx="7828070" cy="1041641"/>
          </a:xfrm>
        </p:grpSpPr>
        <p:sp>
          <p:nvSpPr>
            <p:cNvPr id="4" name="Freeform 4"/>
            <p:cNvSpPr/>
            <p:nvPr/>
          </p:nvSpPr>
          <p:spPr>
            <a:xfrm>
              <a:off x="0" y="0"/>
              <a:ext cx="7828069" cy="1041641"/>
            </a:xfrm>
            <a:custGeom>
              <a:avLst/>
              <a:gdLst/>
              <a:ahLst/>
              <a:cxnLst/>
              <a:rect l="l" t="t" r="r" b="b"/>
              <a:pathLst>
                <a:path w="7828069" h="1041641">
                  <a:moveTo>
                    <a:pt x="7703610" y="1041640"/>
                  </a:moveTo>
                  <a:lnTo>
                    <a:pt x="124460" y="1041640"/>
                  </a:lnTo>
                  <a:cubicBezTo>
                    <a:pt x="55880" y="1041640"/>
                    <a:pt x="0" y="985761"/>
                    <a:pt x="0" y="917180"/>
                  </a:cubicBezTo>
                  <a:lnTo>
                    <a:pt x="0" y="124460"/>
                  </a:lnTo>
                  <a:cubicBezTo>
                    <a:pt x="0" y="55880"/>
                    <a:pt x="55880" y="0"/>
                    <a:pt x="124460" y="0"/>
                  </a:cubicBezTo>
                  <a:lnTo>
                    <a:pt x="7703610" y="0"/>
                  </a:lnTo>
                  <a:cubicBezTo>
                    <a:pt x="7772190" y="0"/>
                    <a:pt x="7828069" y="55880"/>
                    <a:pt x="7828069" y="124460"/>
                  </a:cubicBezTo>
                  <a:lnTo>
                    <a:pt x="7828069" y="917181"/>
                  </a:lnTo>
                  <a:cubicBezTo>
                    <a:pt x="7828069" y="985761"/>
                    <a:pt x="7772190" y="1041641"/>
                    <a:pt x="7703610" y="1041641"/>
                  </a:cubicBezTo>
                  <a:close/>
                </a:path>
              </a:pathLst>
            </a:custGeom>
            <a:solidFill>
              <a:srgbClr val="C5E5DE"/>
            </a:solidFill>
          </p:spPr>
          <p:txBody>
            <a:bodyPr/>
            <a:lstStyle/>
            <a:p>
              <a:endParaRPr lang="en-US"/>
            </a:p>
          </p:txBody>
        </p:sp>
      </p:grpSp>
      <p:sp>
        <p:nvSpPr>
          <p:cNvPr id="11" name="Freeform 11"/>
          <p:cNvSpPr/>
          <p:nvPr/>
        </p:nvSpPr>
        <p:spPr>
          <a:xfrm rot="-9019887" flipH="1">
            <a:off x="-3834094" y="6405166"/>
            <a:ext cx="12155110" cy="5768152"/>
          </a:xfrm>
          <a:custGeom>
            <a:avLst/>
            <a:gdLst/>
            <a:ahLst/>
            <a:cxnLst/>
            <a:rect l="l" t="t" r="r" b="b"/>
            <a:pathLst>
              <a:path w="12155110" h="5768152">
                <a:moveTo>
                  <a:pt x="12155110" y="0"/>
                </a:moveTo>
                <a:lnTo>
                  <a:pt x="0" y="0"/>
                </a:lnTo>
                <a:lnTo>
                  <a:pt x="0" y="5768152"/>
                </a:lnTo>
                <a:lnTo>
                  <a:pt x="12155110" y="5768152"/>
                </a:lnTo>
                <a:lnTo>
                  <a:pt x="1215511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TextBox 12"/>
          <p:cNvSpPr txBox="1"/>
          <p:nvPr/>
        </p:nvSpPr>
        <p:spPr>
          <a:xfrm>
            <a:off x="9800732" y="2877297"/>
            <a:ext cx="6781126" cy="897682"/>
          </a:xfrm>
          <a:prstGeom prst="rect">
            <a:avLst/>
          </a:prstGeom>
        </p:spPr>
        <p:txBody>
          <a:bodyPr lIns="0" tIns="0" rIns="0" bIns="0" rtlCol="0" anchor="t">
            <a:spAutoFit/>
          </a:bodyPr>
          <a:lstStyle/>
          <a:p>
            <a:pPr marL="0" lvl="0" indent="0" algn="l">
              <a:lnSpc>
                <a:spcPts val="3639"/>
              </a:lnSpc>
              <a:spcBef>
                <a:spcPct val="0"/>
              </a:spcBef>
            </a:pPr>
            <a:r>
              <a:rPr lang="en-US" sz="2799" b="1" dirty="0">
                <a:solidFill>
                  <a:srgbClr val="174076"/>
                </a:solidFill>
                <a:latin typeface="Glacial Indifference"/>
                <a:ea typeface="Glacial Indifference"/>
                <a:cs typeface="Glacial Indifference"/>
                <a:sym typeface="Glacial Indifference"/>
              </a:rPr>
              <a:t>Visual storytelling: </a:t>
            </a:r>
            <a:r>
              <a:rPr lang="en-US" sz="2799" dirty="0">
                <a:solidFill>
                  <a:srgbClr val="174076"/>
                </a:solidFill>
                <a:latin typeface="Glacial Indifference"/>
                <a:ea typeface="Glacial Indifference"/>
                <a:cs typeface="Glacial Indifference"/>
                <a:sym typeface="Glacial Indifference"/>
              </a:rPr>
              <a:t>Combines sound, motion, and imagery to communicate ideas.</a:t>
            </a:r>
          </a:p>
        </p:txBody>
      </p:sp>
      <p:sp>
        <p:nvSpPr>
          <p:cNvPr id="16" name="TextBox 16"/>
          <p:cNvSpPr txBox="1"/>
          <p:nvPr/>
        </p:nvSpPr>
        <p:spPr>
          <a:xfrm>
            <a:off x="1028700" y="1008613"/>
            <a:ext cx="7292316" cy="2205732"/>
          </a:xfrm>
          <a:prstGeom prst="rect">
            <a:avLst/>
          </a:prstGeom>
        </p:spPr>
        <p:txBody>
          <a:bodyPr lIns="0" tIns="0" rIns="0" bIns="0" rtlCol="0" anchor="t">
            <a:spAutoFit/>
          </a:bodyPr>
          <a:lstStyle/>
          <a:p>
            <a:pPr marL="0" lvl="0" indent="0" algn="l">
              <a:lnSpc>
                <a:spcPts val="8640"/>
              </a:lnSpc>
              <a:spcBef>
                <a:spcPct val="0"/>
              </a:spcBef>
            </a:pPr>
            <a:r>
              <a:rPr lang="en-US" sz="5400" spc="-144" dirty="0">
                <a:solidFill>
                  <a:srgbClr val="174076"/>
                </a:solidFill>
                <a:latin typeface="Yeseva One"/>
                <a:ea typeface="Yeseva One"/>
                <a:cs typeface="Yeseva One"/>
                <a:sym typeface="Yeseva One"/>
              </a:rPr>
              <a:t>As a Medium of Mass Communication</a:t>
            </a:r>
            <a:r>
              <a:rPr lang="en-US" sz="7200" spc="-144" dirty="0">
                <a:solidFill>
                  <a:srgbClr val="174076"/>
                </a:solidFill>
                <a:latin typeface="Yeseva One"/>
                <a:ea typeface="Yeseva One"/>
                <a:cs typeface="Yeseva One"/>
                <a:sym typeface="Yeseva One"/>
              </a:rPr>
              <a:t> </a:t>
            </a:r>
          </a:p>
        </p:txBody>
      </p:sp>
      <p:sp>
        <p:nvSpPr>
          <p:cNvPr id="17" name="TextBox 17"/>
          <p:cNvSpPr txBox="1"/>
          <p:nvPr/>
        </p:nvSpPr>
        <p:spPr>
          <a:xfrm>
            <a:off x="9327835" y="998999"/>
            <a:ext cx="6931661" cy="1026795"/>
          </a:xfrm>
          <a:prstGeom prst="rect">
            <a:avLst/>
          </a:prstGeom>
        </p:spPr>
        <p:txBody>
          <a:bodyPr lIns="0" tIns="0" rIns="0" bIns="0" rtlCol="0" anchor="t">
            <a:spAutoFit/>
          </a:bodyPr>
          <a:lstStyle/>
          <a:p>
            <a:pPr marL="0" lvl="0" indent="0" algn="l">
              <a:lnSpc>
                <a:spcPts val="4199"/>
              </a:lnSpc>
              <a:spcBef>
                <a:spcPct val="0"/>
              </a:spcBef>
            </a:pPr>
            <a:r>
              <a:rPr lang="en-US" sz="2799" dirty="0">
                <a:solidFill>
                  <a:srgbClr val="174076"/>
                </a:solidFill>
                <a:latin typeface="Glacial Indifference"/>
                <a:ea typeface="Glacial Indifference"/>
                <a:cs typeface="Glacial Indifference"/>
                <a:sym typeface="Glacial Indifference"/>
              </a:rPr>
              <a:t>Films can be created for a variety of reasons. Their </a:t>
            </a:r>
            <a:r>
              <a:rPr lang="en-US" sz="2799" b="1" dirty="0">
                <a:solidFill>
                  <a:srgbClr val="174076"/>
                </a:solidFill>
                <a:latin typeface="Glacial Indifference Bold"/>
                <a:ea typeface="Glacial Indifference Bold"/>
                <a:cs typeface="Glacial Indifference Bold"/>
                <a:sym typeface="Glacial Indifference Bold"/>
              </a:rPr>
              <a:t>purpose</a:t>
            </a:r>
            <a:r>
              <a:rPr lang="en-US" sz="2799" dirty="0">
                <a:solidFill>
                  <a:srgbClr val="174076"/>
                </a:solidFill>
                <a:latin typeface="Glacial Indifference"/>
                <a:ea typeface="Glacial Indifference"/>
                <a:cs typeface="Glacial Indifference"/>
                <a:sym typeface="Glacial Indifference"/>
              </a:rPr>
              <a:t> might be:</a:t>
            </a:r>
          </a:p>
        </p:txBody>
      </p:sp>
      <p:sp>
        <p:nvSpPr>
          <p:cNvPr id="19" name="Freeform 19"/>
          <p:cNvSpPr/>
          <p:nvPr/>
        </p:nvSpPr>
        <p:spPr>
          <a:xfrm>
            <a:off x="1028700" y="3924308"/>
            <a:ext cx="5712533" cy="5333992"/>
          </a:xfrm>
          <a:custGeom>
            <a:avLst/>
            <a:gdLst/>
            <a:ahLst/>
            <a:cxnLst/>
            <a:rect l="l" t="t" r="r" b="b"/>
            <a:pathLst>
              <a:path w="5712533" h="5333992">
                <a:moveTo>
                  <a:pt x="0" y="0"/>
                </a:moveTo>
                <a:lnTo>
                  <a:pt x="5712533" y="0"/>
                </a:lnTo>
                <a:lnTo>
                  <a:pt x="5712533" y="5333992"/>
                </a:lnTo>
                <a:lnTo>
                  <a:pt x="0" y="533399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20" name="Group 3">
            <a:extLst>
              <a:ext uri="{FF2B5EF4-FFF2-40B4-BE49-F238E27FC236}">
                <a16:creationId xmlns:a16="http://schemas.microsoft.com/office/drawing/2014/main" id="{7C55257E-BC4A-7B23-ED5D-C5440EFBF66E}"/>
              </a:ext>
            </a:extLst>
          </p:cNvPr>
          <p:cNvGrpSpPr/>
          <p:nvPr/>
        </p:nvGrpSpPr>
        <p:grpSpPr>
          <a:xfrm>
            <a:off x="9480234" y="4380355"/>
            <a:ext cx="7422123" cy="1659485"/>
            <a:chOff x="0" y="0"/>
            <a:chExt cx="7828070" cy="1041641"/>
          </a:xfrm>
        </p:grpSpPr>
        <p:sp>
          <p:nvSpPr>
            <p:cNvPr id="21" name="Freeform 4">
              <a:extLst>
                <a:ext uri="{FF2B5EF4-FFF2-40B4-BE49-F238E27FC236}">
                  <a16:creationId xmlns:a16="http://schemas.microsoft.com/office/drawing/2014/main" id="{5C60C375-CBA8-CEBD-7739-88047083C453}"/>
                </a:ext>
              </a:extLst>
            </p:cNvPr>
            <p:cNvSpPr/>
            <p:nvPr/>
          </p:nvSpPr>
          <p:spPr>
            <a:xfrm>
              <a:off x="0" y="0"/>
              <a:ext cx="7828069" cy="1041641"/>
            </a:xfrm>
            <a:custGeom>
              <a:avLst/>
              <a:gdLst/>
              <a:ahLst/>
              <a:cxnLst/>
              <a:rect l="l" t="t" r="r" b="b"/>
              <a:pathLst>
                <a:path w="7828069" h="1041641">
                  <a:moveTo>
                    <a:pt x="7703610" y="1041640"/>
                  </a:moveTo>
                  <a:lnTo>
                    <a:pt x="124460" y="1041640"/>
                  </a:lnTo>
                  <a:cubicBezTo>
                    <a:pt x="55880" y="1041640"/>
                    <a:pt x="0" y="985761"/>
                    <a:pt x="0" y="917180"/>
                  </a:cubicBezTo>
                  <a:lnTo>
                    <a:pt x="0" y="124460"/>
                  </a:lnTo>
                  <a:cubicBezTo>
                    <a:pt x="0" y="55880"/>
                    <a:pt x="55880" y="0"/>
                    <a:pt x="124460" y="0"/>
                  </a:cubicBezTo>
                  <a:lnTo>
                    <a:pt x="7703610" y="0"/>
                  </a:lnTo>
                  <a:cubicBezTo>
                    <a:pt x="7772190" y="0"/>
                    <a:pt x="7828069" y="55880"/>
                    <a:pt x="7828069" y="124460"/>
                  </a:cubicBezTo>
                  <a:lnTo>
                    <a:pt x="7828069" y="917181"/>
                  </a:lnTo>
                  <a:cubicBezTo>
                    <a:pt x="7828069" y="985761"/>
                    <a:pt x="7772190" y="1041641"/>
                    <a:pt x="7703610" y="1041641"/>
                  </a:cubicBezTo>
                  <a:close/>
                </a:path>
              </a:pathLst>
            </a:custGeom>
            <a:solidFill>
              <a:srgbClr val="C5E5DE"/>
            </a:solidFill>
          </p:spPr>
          <p:txBody>
            <a:bodyPr/>
            <a:lstStyle/>
            <a:p>
              <a:endParaRPr lang="en-US"/>
            </a:p>
          </p:txBody>
        </p:sp>
      </p:grpSp>
      <p:grpSp>
        <p:nvGrpSpPr>
          <p:cNvPr id="22" name="Group 3">
            <a:extLst>
              <a:ext uri="{FF2B5EF4-FFF2-40B4-BE49-F238E27FC236}">
                <a16:creationId xmlns:a16="http://schemas.microsoft.com/office/drawing/2014/main" id="{FC53807C-3087-9DC8-0B42-EDFB9C65F712}"/>
              </a:ext>
            </a:extLst>
          </p:cNvPr>
          <p:cNvGrpSpPr/>
          <p:nvPr/>
        </p:nvGrpSpPr>
        <p:grpSpPr>
          <a:xfrm>
            <a:off x="9480234" y="6301406"/>
            <a:ext cx="7422123" cy="1659485"/>
            <a:chOff x="0" y="0"/>
            <a:chExt cx="7828070" cy="1041641"/>
          </a:xfrm>
        </p:grpSpPr>
        <p:sp>
          <p:nvSpPr>
            <p:cNvPr id="23" name="Freeform 4">
              <a:extLst>
                <a:ext uri="{FF2B5EF4-FFF2-40B4-BE49-F238E27FC236}">
                  <a16:creationId xmlns:a16="http://schemas.microsoft.com/office/drawing/2014/main" id="{D96552E3-B3C1-5A0F-6BB4-5E8FD53AC12E}"/>
                </a:ext>
              </a:extLst>
            </p:cNvPr>
            <p:cNvSpPr/>
            <p:nvPr/>
          </p:nvSpPr>
          <p:spPr>
            <a:xfrm>
              <a:off x="0" y="0"/>
              <a:ext cx="7828069" cy="1041641"/>
            </a:xfrm>
            <a:custGeom>
              <a:avLst/>
              <a:gdLst/>
              <a:ahLst/>
              <a:cxnLst/>
              <a:rect l="l" t="t" r="r" b="b"/>
              <a:pathLst>
                <a:path w="7828069" h="1041641">
                  <a:moveTo>
                    <a:pt x="7703610" y="1041640"/>
                  </a:moveTo>
                  <a:lnTo>
                    <a:pt x="124460" y="1041640"/>
                  </a:lnTo>
                  <a:cubicBezTo>
                    <a:pt x="55880" y="1041640"/>
                    <a:pt x="0" y="985761"/>
                    <a:pt x="0" y="917180"/>
                  </a:cubicBezTo>
                  <a:lnTo>
                    <a:pt x="0" y="124460"/>
                  </a:lnTo>
                  <a:cubicBezTo>
                    <a:pt x="0" y="55880"/>
                    <a:pt x="55880" y="0"/>
                    <a:pt x="124460" y="0"/>
                  </a:cubicBezTo>
                  <a:lnTo>
                    <a:pt x="7703610" y="0"/>
                  </a:lnTo>
                  <a:cubicBezTo>
                    <a:pt x="7772190" y="0"/>
                    <a:pt x="7828069" y="55880"/>
                    <a:pt x="7828069" y="124460"/>
                  </a:cubicBezTo>
                  <a:lnTo>
                    <a:pt x="7828069" y="917181"/>
                  </a:lnTo>
                  <a:cubicBezTo>
                    <a:pt x="7828069" y="985761"/>
                    <a:pt x="7772190" y="1041641"/>
                    <a:pt x="7703610" y="1041641"/>
                  </a:cubicBezTo>
                  <a:close/>
                </a:path>
              </a:pathLst>
            </a:custGeom>
            <a:solidFill>
              <a:srgbClr val="C5E5DE"/>
            </a:solidFill>
          </p:spPr>
          <p:txBody>
            <a:bodyPr/>
            <a:lstStyle/>
            <a:p>
              <a:endParaRPr lang="en-US"/>
            </a:p>
          </p:txBody>
        </p:sp>
      </p:grpSp>
      <p:grpSp>
        <p:nvGrpSpPr>
          <p:cNvPr id="24" name="Group 3">
            <a:extLst>
              <a:ext uri="{FF2B5EF4-FFF2-40B4-BE49-F238E27FC236}">
                <a16:creationId xmlns:a16="http://schemas.microsoft.com/office/drawing/2014/main" id="{E76E243A-4E10-3B98-32B2-C3A931D24ADE}"/>
              </a:ext>
            </a:extLst>
          </p:cNvPr>
          <p:cNvGrpSpPr/>
          <p:nvPr/>
        </p:nvGrpSpPr>
        <p:grpSpPr>
          <a:xfrm>
            <a:off x="9480234" y="8227561"/>
            <a:ext cx="7422123" cy="1659485"/>
            <a:chOff x="0" y="0"/>
            <a:chExt cx="7828070" cy="1041641"/>
          </a:xfrm>
        </p:grpSpPr>
        <p:sp>
          <p:nvSpPr>
            <p:cNvPr id="25" name="Freeform 4">
              <a:extLst>
                <a:ext uri="{FF2B5EF4-FFF2-40B4-BE49-F238E27FC236}">
                  <a16:creationId xmlns:a16="http://schemas.microsoft.com/office/drawing/2014/main" id="{1A030926-27DA-3920-291E-7AEB7EC93ACA}"/>
                </a:ext>
              </a:extLst>
            </p:cNvPr>
            <p:cNvSpPr/>
            <p:nvPr/>
          </p:nvSpPr>
          <p:spPr>
            <a:xfrm>
              <a:off x="0" y="0"/>
              <a:ext cx="7828069" cy="1041641"/>
            </a:xfrm>
            <a:custGeom>
              <a:avLst/>
              <a:gdLst/>
              <a:ahLst/>
              <a:cxnLst/>
              <a:rect l="l" t="t" r="r" b="b"/>
              <a:pathLst>
                <a:path w="7828069" h="1041641">
                  <a:moveTo>
                    <a:pt x="7703610" y="1041640"/>
                  </a:moveTo>
                  <a:lnTo>
                    <a:pt x="124460" y="1041640"/>
                  </a:lnTo>
                  <a:cubicBezTo>
                    <a:pt x="55880" y="1041640"/>
                    <a:pt x="0" y="985761"/>
                    <a:pt x="0" y="917180"/>
                  </a:cubicBezTo>
                  <a:lnTo>
                    <a:pt x="0" y="124460"/>
                  </a:lnTo>
                  <a:cubicBezTo>
                    <a:pt x="0" y="55880"/>
                    <a:pt x="55880" y="0"/>
                    <a:pt x="124460" y="0"/>
                  </a:cubicBezTo>
                  <a:lnTo>
                    <a:pt x="7703610" y="0"/>
                  </a:lnTo>
                  <a:cubicBezTo>
                    <a:pt x="7772190" y="0"/>
                    <a:pt x="7828069" y="55880"/>
                    <a:pt x="7828069" y="124460"/>
                  </a:cubicBezTo>
                  <a:lnTo>
                    <a:pt x="7828069" y="917181"/>
                  </a:lnTo>
                  <a:cubicBezTo>
                    <a:pt x="7828069" y="985761"/>
                    <a:pt x="7772190" y="1041641"/>
                    <a:pt x="7703610" y="1041641"/>
                  </a:cubicBezTo>
                  <a:close/>
                </a:path>
              </a:pathLst>
            </a:custGeom>
            <a:solidFill>
              <a:srgbClr val="C5E5DE"/>
            </a:solidFill>
          </p:spPr>
          <p:txBody>
            <a:bodyPr/>
            <a:lstStyle/>
            <a:p>
              <a:endParaRPr lang="en-US"/>
            </a:p>
          </p:txBody>
        </p:sp>
      </p:grpSp>
      <p:sp>
        <p:nvSpPr>
          <p:cNvPr id="26" name="TextBox 12">
            <a:extLst>
              <a:ext uri="{FF2B5EF4-FFF2-40B4-BE49-F238E27FC236}">
                <a16:creationId xmlns:a16="http://schemas.microsoft.com/office/drawing/2014/main" id="{79C15B29-8E5C-ED9B-F07D-DF011D88EDC6}"/>
              </a:ext>
            </a:extLst>
          </p:cNvPr>
          <p:cNvSpPr txBox="1"/>
          <p:nvPr/>
        </p:nvSpPr>
        <p:spPr>
          <a:xfrm>
            <a:off x="9800732" y="4761256"/>
            <a:ext cx="6781126" cy="897682"/>
          </a:xfrm>
          <a:prstGeom prst="rect">
            <a:avLst/>
          </a:prstGeom>
        </p:spPr>
        <p:txBody>
          <a:bodyPr lIns="0" tIns="0" rIns="0" bIns="0" rtlCol="0" anchor="t">
            <a:spAutoFit/>
          </a:bodyPr>
          <a:lstStyle/>
          <a:p>
            <a:pPr marL="0" lvl="0" indent="0" algn="l">
              <a:lnSpc>
                <a:spcPts val="3639"/>
              </a:lnSpc>
              <a:spcBef>
                <a:spcPct val="0"/>
              </a:spcBef>
            </a:pPr>
            <a:r>
              <a:rPr lang="en-US" sz="2799" b="1" dirty="0">
                <a:solidFill>
                  <a:srgbClr val="174076"/>
                </a:solidFill>
                <a:latin typeface="Glacial Indifference"/>
                <a:ea typeface="Glacial Indifference"/>
                <a:cs typeface="Glacial Indifference"/>
                <a:sym typeface="Glacial Indifference"/>
              </a:rPr>
              <a:t>Universal appeal: </a:t>
            </a:r>
            <a:r>
              <a:rPr lang="en-US" sz="2799" dirty="0">
                <a:solidFill>
                  <a:srgbClr val="174076"/>
                </a:solidFill>
                <a:latin typeface="Glacial Indifference"/>
                <a:ea typeface="Glacial Indifference"/>
                <a:cs typeface="Glacial Indifference"/>
                <a:sym typeface="Glacial Indifference"/>
              </a:rPr>
              <a:t>Crosses cultural and linguistic barriers.</a:t>
            </a:r>
          </a:p>
        </p:txBody>
      </p:sp>
      <p:sp>
        <p:nvSpPr>
          <p:cNvPr id="27" name="TextBox 12">
            <a:extLst>
              <a:ext uri="{FF2B5EF4-FFF2-40B4-BE49-F238E27FC236}">
                <a16:creationId xmlns:a16="http://schemas.microsoft.com/office/drawing/2014/main" id="{8800FFDD-BE06-F71D-1BDE-BA176164E517}"/>
              </a:ext>
            </a:extLst>
          </p:cNvPr>
          <p:cNvSpPr txBox="1"/>
          <p:nvPr/>
        </p:nvSpPr>
        <p:spPr>
          <a:xfrm>
            <a:off x="9800732" y="8378764"/>
            <a:ext cx="6781126" cy="1359346"/>
          </a:xfrm>
          <a:prstGeom prst="rect">
            <a:avLst/>
          </a:prstGeom>
        </p:spPr>
        <p:txBody>
          <a:bodyPr lIns="0" tIns="0" rIns="0" bIns="0" rtlCol="0" anchor="t">
            <a:spAutoFit/>
          </a:bodyPr>
          <a:lstStyle/>
          <a:p>
            <a:pPr marL="0" lvl="0" indent="0" algn="l">
              <a:lnSpc>
                <a:spcPts val="3639"/>
              </a:lnSpc>
              <a:spcBef>
                <a:spcPct val="0"/>
              </a:spcBef>
            </a:pPr>
            <a:r>
              <a:rPr lang="en-US" sz="2799" b="1" dirty="0">
                <a:solidFill>
                  <a:srgbClr val="174076"/>
                </a:solidFill>
                <a:latin typeface="Glacial Indifference"/>
                <a:ea typeface="Glacial Indifference"/>
                <a:cs typeface="Glacial Indifference"/>
                <a:sym typeface="Glacial Indifference"/>
              </a:rPr>
              <a:t>Medium for advocacy and awareness:</a:t>
            </a:r>
            <a:r>
              <a:rPr lang="en-US" sz="2799" dirty="0">
                <a:solidFill>
                  <a:srgbClr val="174076"/>
                </a:solidFill>
                <a:latin typeface="Glacial Indifference"/>
                <a:ea typeface="Glacial Indifference"/>
                <a:cs typeface="Glacial Indifference"/>
                <a:sym typeface="Glacial Indifference"/>
              </a:rPr>
              <a:t> Addresses social issues, politics, history, and human rights.</a:t>
            </a:r>
          </a:p>
        </p:txBody>
      </p:sp>
      <p:sp>
        <p:nvSpPr>
          <p:cNvPr id="28" name="TextBox 12">
            <a:extLst>
              <a:ext uri="{FF2B5EF4-FFF2-40B4-BE49-F238E27FC236}">
                <a16:creationId xmlns:a16="http://schemas.microsoft.com/office/drawing/2014/main" id="{DE29A13D-06CB-3C9F-8AEB-368E404D117C}"/>
              </a:ext>
            </a:extLst>
          </p:cNvPr>
          <p:cNvSpPr txBox="1"/>
          <p:nvPr/>
        </p:nvSpPr>
        <p:spPr>
          <a:xfrm>
            <a:off x="9800732" y="6451475"/>
            <a:ext cx="6781126" cy="1359346"/>
          </a:xfrm>
          <a:prstGeom prst="rect">
            <a:avLst/>
          </a:prstGeom>
        </p:spPr>
        <p:txBody>
          <a:bodyPr lIns="0" tIns="0" rIns="0" bIns="0" rtlCol="0" anchor="t">
            <a:spAutoFit/>
          </a:bodyPr>
          <a:lstStyle/>
          <a:p>
            <a:pPr marL="0" lvl="0" indent="0" algn="l">
              <a:lnSpc>
                <a:spcPts val="3639"/>
              </a:lnSpc>
              <a:spcBef>
                <a:spcPct val="0"/>
              </a:spcBef>
            </a:pPr>
            <a:r>
              <a:rPr lang="en-US" sz="2799" b="1" dirty="0">
                <a:solidFill>
                  <a:srgbClr val="174076"/>
                </a:solidFill>
                <a:latin typeface="Glacial Indifference"/>
                <a:ea typeface="Glacial Indifference"/>
                <a:cs typeface="Glacial Indifference"/>
                <a:sym typeface="Glacial Indifference"/>
              </a:rPr>
              <a:t>Emotional and psychological impact:</a:t>
            </a:r>
            <a:r>
              <a:rPr lang="en-US" sz="2799" dirty="0">
                <a:solidFill>
                  <a:srgbClr val="174076"/>
                </a:solidFill>
                <a:latin typeface="Glacial Indifference"/>
                <a:ea typeface="Glacial Indifference"/>
                <a:cs typeface="Glacial Indifference"/>
                <a:sym typeface="Glacial Indifference"/>
              </a:rPr>
              <a:t> Shapes public perception, attitudes, and social behaviors.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txBody>
          <a:bodyPr/>
          <a:lstStyle/>
          <a:p>
            <a:endParaRPr lang="en-US"/>
          </a:p>
        </p:txBody>
      </p:sp>
      <p:grpSp>
        <p:nvGrpSpPr>
          <p:cNvPr id="3" name="Group 3"/>
          <p:cNvGrpSpPr/>
          <p:nvPr/>
        </p:nvGrpSpPr>
        <p:grpSpPr>
          <a:xfrm>
            <a:off x="1028700" y="3184181"/>
            <a:ext cx="11984419" cy="6607519"/>
            <a:chOff x="0" y="0"/>
            <a:chExt cx="3156390" cy="1664799"/>
          </a:xfrm>
        </p:grpSpPr>
        <p:sp>
          <p:nvSpPr>
            <p:cNvPr id="4" name="Freeform 4"/>
            <p:cNvSpPr/>
            <p:nvPr/>
          </p:nvSpPr>
          <p:spPr>
            <a:xfrm>
              <a:off x="0" y="0"/>
              <a:ext cx="3156390" cy="1664799"/>
            </a:xfrm>
            <a:custGeom>
              <a:avLst/>
              <a:gdLst/>
              <a:ahLst/>
              <a:cxnLst/>
              <a:rect l="l" t="t" r="r" b="b"/>
              <a:pathLst>
                <a:path w="3156390" h="1664799">
                  <a:moveTo>
                    <a:pt x="0" y="0"/>
                  </a:moveTo>
                  <a:lnTo>
                    <a:pt x="3156390" y="0"/>
                  </a:lnTo>
                  <a:lnTo>
                    <a:pt x="3156390" y="1664799"/>
                  </a:lnTo>
                  <a:lnTo>
                    <a:pt x="0" y="1664799"/>
                  </a:lnTo>
                  <a:close/>
                </a:path>
              </a:pathLst>
            </a:custGeom>
            <a:solidFill>
              <a:srgbClr val="C5E5DE"/>
            </a:solidFill>
          </p:spPr>
          <p:txBody>
            <a:bodyPr/>
            <a:lstStyle/>
            <a:p>
              <a:endParaRPr lang="en-US"/>
            </a:p>
          </p:txBody>
        </p:sp>
        <p:sp>
          <p:nvSpPr>
            <p:cNvPr id="5" name="TextBox 5"/>
            <p:cNvSpPr txBox="1"/>
            <p:nvPr/>
          </p:nvSpPr>
          <p:spPr>
            <a:xfrm>
              <a:off x="0" y="-66675"/>
              <a:ext cx="3156390" cy="1731474"/>
            </a:xfrm>
            <a:prstGeom prst="rect">
              <a:avLst/>
            </a:prstGeom>
          </p:spPr>
          <p:txBody>
            <a:bodyPr lIns="50800" tIns="50800" rIns="50800" bIns="50800" rtlCol="0" anchor="ctr"/>
            <a:lstStyle/>
            <a:p>
              <a:pPr algn="ctr">
                <a:lnSpc>
                  <a:spcPts val="3150"/>
                </a:lnSpc>
              </a:pPr>
              <a:endParaRPr/>
            </a:p>
          </p:txBody>
        </p:sp>
      </p:grpSp>
      <p:sp>
        <p:nvSpPr>
          <p:cNvPr id="6" name="TextBox 6"/>
          <p:cNvSpPr txBox="1"/>
          <p:nvPr/>
        </p:nvSpPr>
        <p:spPr>
          <a:xfrm>
            <a:off x="1717259" y="3432623"/>
            <a:ext cx="10607301" cy="1570943"/>
          </a:xfrm>
          <a:prstGeom prst="rect">
            <a:avLst/>
          </a:prstGeom>
        </p:spPr>
        <p:txBody>
          <a:bodyPr lIns="0" tIns="0" rIns="0" bIns="0" rtlCol="0" anchor="t">
            <a:spAutoFit/>
          </a:bodyPr>
          <a:lstStyle/>
          <a:p>
            <a:pPr marL="0" lvl="0" indent="0" algn="l">
              <a:lnSpc>
                <a:spcPts val="4199"/>
              </a:lnSpc>
              <a:spcBef>
                <a:spcPct val="0"/>
              </a:spcBef>
            </a:pPr>
            <a:r>
              <a:rPr lang="en-US" sz="2799" dirty="0">
                <a:solidFill>
                  <a:srgbClr val="174076"/>
                </a:solidFill>
                <a:latin typeface="Glacial Indifference"/>
                <a:ea typeface="Glacial Indifference"/>
                <a:cs typeface="Glacial Indifference"/>
                <a:sym typeface="Glacial Indifference"/>
              </a:rPr>
              <a:t>When analyzing films, it’s essential to recognize that, despite their ability to reflect reality, they are shaped by strategic decisions to influence audience perception. Key considerations include:</a:t>
            </a:r>
          </a:p>
        </p:txBody>
      </p:sp>
      <p:sp>
        <p:nvSpPr>
          <p:cNvPr id="7" name="TextBox 7"/>
          <p:cNvSpPr txBox="1"/>
          <p:nvPr/>
        </p:nvSpPr>
        <p:spPr>
          <a:xfrm>
            <a:off x="1028700" y="780262"/>
            <a:ext cx="11984419" cy="1846659"/>
          </a:xfrm>
          <a:prstGeom prst="rect">
            <a:avLst/>
          </a:prstGeom>
        </p:spPr>
        <p:txBody>
          <a:bodyPr lIns="0" tIns="0" rIns="0" bIns="0" rtlCol="0" anchor="t">
            <a:spAutoFit/>
          </a:bodyPr>
          <a:lstStyle/>
          <a:p>
            <a:pPr marL="0" lvl="0" indent="0" algn="l">
              <a:lnSpc>
                <a:spcPts val="7200"/>
              </a:lnSpc>
            </a:pPr>
            <a:r>
              <a:rPr lang="en-US" sz="6000" dirty="0">
                <a:solidFill>
                  <a:srgbClr val="174076"/>
                </a:solidFill>
                <a:latin typeface="Yeseva One"/>
                <a:ea typeface="Yeseva One"/>
                <a:cs typeface="Yeseva One"/>
                <a:sym typeface="Yeseva One"/>
              </a:rPr>
              <a:t>Slide 4: Functions of Film in Communication</a:t>
            </a:r>
          </a:p>
        </p:txBody>
      </p:sp>
      <p:sp>
        <p:nvSpPr>
          <p:cNvPr id="8" name="TextBox 8"/>
          <p:cNvSpPr txBox="1"/>
          <p:nvPr/>
        </p:nvSpPr>
        <p:spPr>
          <a:xfrm>
            <a:off x="1717259" y="5096762"/>
            <a:ext cx="10607301" cy="4263988"/>
          </a:xfrm>
          <a:prstGeom prst="rect">
            <a:avLst/>
          </a:prstGeom>
        </p:spPr>
        <p:txBody>
          <a:bodyPr lIns="0" tIns="0" rIns="0" bIns="0" rtlCol="0" anchor="t">
            <a:spAutoFit/>
          </a:bodyPr>
          <a:lstStyle/>
          <a:p>
            <a:pPr marL="604519" lvl="1" indent="-302260" algn="l">
              <a:lnSpc>
                <a:spcPts val="4199"/>
              </a:lnSpc>
              <a:buFont typeface="Arial"/>
              <a:buChar char="•"/>
            </a:pPr>
            <a:r>
              <a:rPr lang="en-US" sz="2799" b="1" dirty="0">
                <a:solidFill>
                  <a:srgbClr val="174076"/>
                </a:solidFill>
                <a:latin typeface="Glacial Indifference"/>
                <a:ea typeface="Glacial Indifference"/>
                <a:cs typeface="Glacial Indifference"/>
                <a:sym typeface="Glacial Indifference"/>
              </a:rPr>
              <a:t>The selection of what to depict: </a:t>
            </a:r>
            <a:r>
              <a:rPr lang="en-US" sz="2799" dirty="0">
                <a:solidFill>
                  <a:srgbClr val="174076"/>
                </a:solidFill>
                <a:latin typeface="Glacial Indifference"/>
                <a:ea typeface="Glacial Indifference"/>
                <a:cs typeface="Glacial Indifference"/>
                <a:sym typeface="Glacial Indifference"/>
              </a:rPr>
              <a:t>What stories, themes, or perspectives are highlighted or ignored?</a:t>
            </a:r>
          </a:p>
          <a:p>
            <a:pPr marL="604519" lvl="1" indent="-302260" algn="l">
              <a:lnSpc>
                <a:spcPts val="4199"/>
              </a:lnSpc>
              <a:buFont typeface="Arial"/>
              <a:buChar char="•"/>
            </a:pPr>
            <a:r>
              <a:rPr lang="en-US" sz="2799" b="1" dirty="0">
                <a:solidFill>
                  <a:srgbClr val="174076"/>
                </a:solidFill>
                <a:latin typeface="Glacial Indifference"/>
                <a:ea typeface="Glacial Indifference"/>
                <a:cs typeface="Glacial Indifference"/>
                <a:sym typeface="Glacial Indifference"/>
              </a:rPr>
              <a:t>The framing and staging of scenes:</a:t>
            </a:r>
            <a:r>
              <a:rPr lang="en-US" sz="2799" dirty="0">
                <a:solidFill>
                  <a:srgbClr val="174076"/>
                </a:solidFill>
                <a:latin typeface="Glacial Indifference"/>
                <a:ea typeface="Glacial Indifference"/>
                <a:cs typeface="Glacial Indifference"/>
                <a:sym typeface="Glacial Indifference"/>
              </a:rPr>
              <a:t> How is the subject presented visually and contextually?</a:t>
            </a:r>
          </a:p>
          <a:p>
            <a:pPr marL="604519" lvl="1" indent="-302260" algn="l">
              <a:lnSpc>
                <a:spcPts val="4199"/>
              </a:lnSpc>
              <a:buFont typeface="Arial"/>
              <a:buChar char="•"/>
            </a:pPr>
            <a:r>
              <a:rPr lang="en-US" sz="2799" b="1" dirty="0">
                <a:solidFill>
                  <a:srgbClr val="174076"/>
                </a:solidFill>
                <a:latin typeface="Glacial Indifference"/>
                <a:ea typeface="Glacial Indifference"/>
                <a:cs typeface="Glacial Indifference"/>
                <a:sym typeface="Glacial Indifference"/>
              </a:rPr>
              <a:t>The role of editing:</a:t>
            </a:r>
            <a:r>
              <a:rPr lang="en-US" sz="2799" dirty="0">
                <a:solidFill>
                  <a:srgbClr val="174076"/>
                </a:solidFill>
                <a:latin typeface="Glacial Indifference"/>
                <a:ea typeface="Glacial Indifference"/>
                <a:cs typeface="Glacial Indifference"/>
                <a:sym typeface="Glacial Indifference"/>
              </a:rPr>
              <a:t> What sequences, details, and angles are emphasized or omitted?</a:t>
            </a:r>
          </a:p>
          <a:p>
            <a:pPr marL="604519" lvl="1" indent="-302260" algn="l">
              <a:lnSpc>
                <a:spcPts val="4199"/>
              </a:lnSpc>
              <a:buFont typeface="Arial"/>
              <a:buChar char="•"/>
            </a:pPr>
            <a:r>
              <a:rPr lang="en-US" sz="2799" b="1" dirty="0">
                <a:solidFill>
                  <a:srgbClr val="174076"/>
                </a:solidFill>
                <a:latin typeface="Glacial Indifference"/>
                <a:ea typeface="Glacial Indifference"/>
                <a:cs typeface="Glacial Indifference"/>
                <a:sym typeface="Glacial Indifference"/>
              </a:rPr>
              <a:t>The impact of consent and control:</a:t>
            </a:r>
            <a:r>
              <a:rPr lang="en-US" sz="2799" dirty="0">
                <a:solidFill>
                  <a:srgbClr val="174076"/>
                </a:solidFill>
                <a:latin typeface="Glacial Indifference"/>
                <a:ea typeface="Glacial Indifference"/>
                <a:cs typeface="Glacial Indifference"/>
                <a:sym typeface="Glacial Indifference"/>
              </a:rPr>
              <a:t> Who decides how events or individuals are portrayed?</a:t>
            </a:r>
          </a:p>
        </p:txBody>
      </p:sp>
      <p:sp>
        <p:nvSpPr>
          <p:cNvPr id="9" name="Freeform 9"/>
          <p:cNvSpPr/>
          <p:nvPr/>
        </p:nvSpPr>
        <p:spPr>
          <a:xfrm rot="5400000" flipH="1">
            <a:off x="10893009" y="2746523"/>
            <a:ext cx="10287000" cy="4881649"/>
          </a:xfrm>
          <a:custGeom>
            <a:avLst/>
            <a:gdLst/>
            <a:ahLst/>
            <a:cxnLst/>
            <a:rect l="l" t="t" r="r" b="b"/>
            <a:pathLst>
              <a:path w="10287000" h="4881649">
                <a:moveTo>
                  <a:pt x="10287000" y="0"/>
                </a:moveTo>
                <a:lnTo>
                  <a:pt x="0" y="0"/>
                </a:lnTo>
                <a:lnTo>
                  <a:pt x="0" y="4881649"/>
                </a:lnTo>
                <a:lnTo>
                  <a:pt x="10287000" y="4881649"/>
                </a:lnTo>
                <a:lnTo>
                  <a:pt x="1028700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flipH="1">
            <a:off x="13772822" y="1028700"/>
            <a:ext cx="3486478" cy="8229600"/>
          </a:xfrm>
          <a:custGeom>
            <a:avLst/>
            <a:gdLst/>
            <a:ahLst/>
            <a:cxnLst/>
            <a:rect l="l" t="t" r="r" b="b"/>
            <a:pathLst>
              <a:path w="3486478" h="8229600">
                <a:moveTo>
                  <a:pt x="3486478" y="0"/>
                </a:moveTo>
                <a:lnTo>
                  <a:pt x="0" y="0"/>
                </a:lnTo>
                <a:lnTo>
                  <a:pt x="0" y="8229600"/>
                </a:lnTo>
                <a:lnTo>
                  <a:pt x="3486478" y="8229600"/>
                </a:lnTo>
                <a:lnTo>
                  <a:pt x="3486478"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txBody>
          <a:bodyPr/>
          <a:lstStyle/>
          <a:p>
            <a:endParaRPr lang="en-US"/>
          </a:p>
        </p:txBody>
      </p:sp>
      <p:grpSp>
        <p:nvGrpSpPr>
          <p:cNvPr id="3" name="Group 3"/>
          <p:cNvGrpSpPr/>
          <p:nvPr/>
        </p:nvGrpSpPr>
        <p:grpSpPr>
          <a:xfrm>
            <a:off x="1791073" y="2909134"/>
            <a:ext cx="14705854" cy="6806366"/>
            <a:chOff x="0" y="0"/>
            <a:chExt cx="3873147" cy="1625796"/>
          </a:xfrm>
        </p:grpSpPr>
        <p:sp>
          <p:nvSpPr>
            <p:cNvPr id="4" name="Freeform 4"/>
            <p:cNvSpPr/>
            <p:nvPr/>
          </p:nvSpPr>
          <p:spPr>
            <a:xfrm>
              <a:off x="0" y="0"/>
              <a:ext cx="3873147" cy="1625796"/>
            </a:xfrm>
            <a:custGeom>
              <a:avLst/>
              <a:gdLst/>
              <a:ahLst/>
              <a:cxnLst/>
              <a:rect l="l" t="t" r="r" b="b"/>
              <a:pathLst>
                <a:path w="3873147" h="1625796">
                  <a:moveTo>
                    <a:pt x="0" y="0"/>
                  </a:moveTo>
                  <a:lnTo>
                    <a:pt x="3873147" y="0"/>
                  </a:lnTo>
                  <a:lnTo>
                    <a:pt x="3873147" y="1625796"/>
                  </a:lnTo>
                  <a:lnTo>
                    <a:pt x="0" y="1625796"/>
                  </a:lnTo>
                  <a:close/>
                </a:path>
              </a:pathLst>
            </a:custGeom>
            <a:solidFill>
              <a:srgbClr val="C5E5DE"/>
            </a:solidFill>
          </p:spPr>
          <p:txBody>
            <a:bodyPr/>
            <a:lstStyle/>
            <a:p>
              <a:endParaRPr lang="en-US"/>
            </a:p>
          </p:txBody>
        </p:sp>
        <p:sp>
          <p:nvSpPr>
            <p:cNvPr id="5" name="TextBox 5"/>
            <p:cNvSpPr txBox="1"/>
            <p:nvPr/>
          </p:nvSpPr>
          <p:spPr>
            <a:xfrm>
              <a:off x="0" y="-66675"/>
              <a:ext cx="3873147" cy="1692471"/>
            </a:xfrm>
            <a:prstGeom prst="rect">
              <a:avLst/>
            </a:prstGeom>
          </p:spPr>
          <p:txBody>
            <a:bodyPr lIns="50800" tIns="50800" rIns="50800" bIns="50800" rtlCol="0" anchor="ctr"/>
            <a:lstStyle/>
            <a:p>
              <a:pPr algn="ctr">
                <a:lnSpc>
                  <a:spcPts val="3150"/>
                </a:lnSpc>
              </a:pPr>
              <a:endParaRPr/>
            </a:p>
          </p:txBody>
        </p:sp>
      </p:grpSp>
      <p:sp>
        <p:nvSpPr>
          <p:cNvPr id="6" name="Freeform 6"/>
          <p:cNvSpPr/>
          <p:nvPr/>
        </p:nvSpPr>
        <p:spPr>
          <a:xfrm rot="5400000" flipH="1">
            <a:off x="-6555625" y="-2440825"/>
            <a:ext cx="10287000" cy="4881649"/>
          </a:xfrm>
          <a:custGeom>
            <a:avLst/>
            <a:gdLst/>
            <a:ahLst/>
            <a:cxnLst/>
            <a:rect l="l" t="t" r="r" b="b"/>
            <a:pathLst>
              <a:path w="10287000" h="4881649">
                <a:moveTo>
                  <a:pt x="10287000" y="0"/>
                </a:moveTo>
                <a:lnTo>
                  <a:pt x="0" y="0"/>
                </a:lnTo>
                <a:lnTo>
                  <a:pt x="0" y="4881650"/>
                </a:lnTo>
                <a:lnTo>
                  <a:pt x="10287000" y="4881650"/>
                </a:lnTo>
                <a:lnTo>
                  <a:pt x="1028700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rot="-5400000" flipH="1">
            <a:off x="14556625" y="7846175"/>
            <a:ext cx="10287000" cy="4881649"/>
          </a:xfrm>
          <a:custGeom>
            <a:avLst/>
            <a:gdLst/>
            <a:ahLst/>
            <a:cxnLst/>
            <a:rect l="l" t="t" r="r" b="b"/>
            <a:pathLst>
              <a:path w="10287000" h="4881649">
                <a:moveTo>
                  <a:pt x="10287000" y="0"/>
                </a:moveTo>
                <a:lnTo>
                  <a:pt x="0" y="0"/>
                </a:lnTo>
                <a:lnTo>
                  <a:pt x="0" y="4881650"/>
                </a:lnTo>
                <a:lnTo>
                  <a:pt x="10287000" y="4881650"/>
                </a:lnTo>
                <a:lnTo>
                  <a:pt x="1028700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a:off x="221876" y="5597071"/>
            <a:ext cx="574387" cy="574387"/>
          </a:xfrm>
          <a:custGeom>
            <a:avLst/>
            <a:gdLst/>
            <a:ahLst/>
            <a:cxnLst/>
            <a:rect l="l" t="t" r="r" b="b"/>
            <a:pathLst>
              <a:path w="574387" h="574387">
                <a:moveTo>
                  <a:pt x="0" y="0"/>
                </a:moveTo>
                <a:lnTo>
                  <a:pt x="574387" y="0"/>
                </a:lnTo>
                <a:lnTo>
                  <a:pt x="574387" y="574387"/>
                </a:lnTo>
                <a:lnTo>
                  <a:pt x="0" y="57438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Freeform 9"/>
          <p:cNvSpPr/>
          <p:nvPr/>
        </p:nvSpPr>
        <p:spPr>
          <a:xfrm>
            <a:off x="221876" y="6628658"/>
            <a:ext cx="574387" cy="574387"/>
          </a:xfrm>
          <a:custGeom>
            <a:avLst/>
            <a:gdLst/>
            <a:ahLst/>
            <a:cxnLst/>
            <a:rect l="l" t="t" r="r" b="b"/>
            <a:pathLst>
              <a:path w="574387" h="574387">
                <a:moveTo>
                  <a:pt x="0" y="0"/>
                </a:moveTo>
                <a:lnTo>
                  <a:pt x="574387" y="0"/>
                </a:lnTo>
                <a:lnTo>
                  <a:pt x="574387" y="574386"/>
                </a:lnTo>
                <a:lnTo>
                  <a:pt x="0" y="57438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TextBox 10"/>
          <p:cNvSpPr txBox="1"/>
          <p:nvPr/>
        </p:nvSpPr>
        <p:spPr>
          <a:xfrm>
            <a:off x="196655" y="1194643"/>
            <a:ext cx="17894689" cy="1018997"/>
          </a:xfrm>
          <a:prstGeom prst="rect">
            <a:avLst/>
          </a:prstGeom>
        </p:spPr>
        <p:txBody>
          <a:bodyPr wrap="square" lIns="0" tIns="0" rIns="0" bIns="0" rtlCol="0" anchor="t">
            <a:spAutoFit/>
          </a:bodyPr>
          <a:lstStyle/>
          <a:p>
            <a:pPr marL="0" lvl="0" indent="0" algn="ctr">
              <a:lnSpc>
                <a:spcPts val="8640"/>
              </a:lnSpc>
              <a:spcBef>
                <a:spcPct val="0"/>
              </a:spcBef>
            </a:pPr>
            <a:r>
              <a:rPr lang="en-US" sz="5400" dirty="0">
                <a:solidFill>
                  <a:srgbClr val="174076"/>
                </a:solidFill>
                <a:latin typeface="Yeseva One"/>
                <a:ea typeface="Yeseva One"/>
                <a:cs typeface="Yeseva One"/>
                <a:sym typeface="Yeseva One"/>
              </a:rPr>
              <a:t>Historical Impact of Film in Communication</a:t>
            </a:r>
          </a:p>
        </p:txBody>
      </p:sp>
      <p:sp>
        <p:nvSpPr>
          <p:cNvPr id="11" name="TextBox 11"/>
          <p:cNvSpPr txBox="1"/>
          <p:nvPr/>
        </p:nvSpPr>
        <p:spPr>
          <a:xfrm>
            <a:off x="2452278" y="3343845"/>
            <a:ext cx="13383445" cy="5879815"/>
          </a:xfrm>
          <a:prstGeom prst="rect">
            <a:avLst/>
          </a:prstGeom>
        </p:spPr>
        <p:txBody>
          <a:bodyPr lIns="0" tIns="0" rIns="0" bIns="0" rtlCol="0" anchor="t">
            <a:spAutoFit/>
          </a:bodyPr>
          <a:lstStyle/>
          <a:p>
            <a:pPr algn="l">
              <a:lnSpc>
                <a:spcPts val="4199"/>
              </a:lnSpc>
            </a:pPr>
            <a:r>
              <a:rPr lang="en-US" sz="2799" dirty="0">
                <a:solidFill>
                  <a:srgbClr val="174076"/>
                </a:solidFill>
                <a:latin typeface="Glacial Indifference"/>
                <a:ea typeface="Glacial Indifference"/>
                <a:cs typeface="Glacial Indifference"/>
                <a:sym typeface="Glacial Indifference"/>
              </a:rPr>
              <a:t>Films are often viewed as reflections of their time, but they are also shaped by the social, political, and technological forces behind their creation, as well as the version of reality perceived by their creator(s). Their impact depends upon:</a:t>
            </a:r>
          </a:p>
          <a:p>
            <a:pPr marL="457200" indent="-457200" algn="l">
              <a:lnSpc>
                <a:spcPts val="4199"/>
              </a:lnSpc>
              <a:buFont typeface="Arial" panose="020B0604020202020204" pitchFamily="34" charset="0"/>
              <a:buChar char="•"/>
            </a:pPr>
            <a:r>
              <a:rPr lang="en-US" sz="2799" b="1" dirty="0">
                <a:solidFill>
                  <a:srgbClr val="174076"/>
                </a:solidFill>
                <a:latin typeface="Glacial Indifference"/>
                <a:ea typeface="Glacial Indifference"/>
                <a:cs typeface="Glacial Indifference"/>
                <a:sym typeface="Glacial Indifference"/>
              </a:rPr>
              <a:t>The cultural and historical context:</a:t>
            </a:r>
            <a:r>
              <a:rPr lang="en-US" sz="2799" dirty="0">
                <a:solidFill>
                  <a:srgbClr val="174076"/>
                </a:solidFill>
                <a:latin typeface="Glacial Indifference"/>
                <a:ea typeface="Glacial Indifference"/>
                <a:cs typeface="Glacial Indifference"/>
                <a:sym typeface="Glacial Indifference"/>
              </a:rPr>
              <a:t> How do films reinforce or challenge prevailing ideologies? How do they represent their maker’s ideologies?</a:t>
            </a:r>
          </a:p>
          <a:p>
            <a:pPr marL="457200" indent="-457200" algn="l">
              <a:lnSpc>
                <a:spcPts val="4199"/>
              </a:lnSpc>
              <a:buFont typeface="Arial" panose="020B0604020202020204" pitchFamily="34" charset="0"/>
              <a:buChar char="•"/>
            </a:pPr>
            <a:r>
              <a:rPr lang="en-US" sz="2799" b="1" dirty="0">
                <a:solidFill>
                  <a:srgbClr val="174076"/>
                </a:solidFill>
                <a:latin typeface="Glacial Indifference"/>
                <a:ea typeface="Glacial Indifference"/>
                <a:cs typeface="Glacial Indifference"/>
                <a:sym typeface="Glacial Indifference"/>
              </a:rPr>
              <a:t>The role of government and institutions:</a:t>
            </a:r>
            <a:r>
              <a:rPr lang="en-US" sz="2799" dirty="0">
                <a:solidFill>
                  <a:srgbClr val="174076"/>
                </a:solidFill>
                <a:latin typeface="Glacial Indifference"/>
                <a:ea typeface="Glacial Indifference"/>
                <a:cs typeface="Glacial Indifference"/>
                <a:sym typeface="Glacial Indifference"/>
              </a:rPr>
              <a:t> Who funds, censors, or promotes specific narratives?</a:t>
            </a:r>
          </a:p>
          <a:p>
            <a:pPr marL="457200" indent="-457200" algn="l">
              <a:lnSpc>
                <a:spcPts val="4199"/>
              </a:lnSpc>
              <a:buFont typeface="Arial" panose="020B0604020202020204" pitchFamily="34" charset="0"/>
              <a:buChar char="•"/>
            </a:pPr>
            <a:r>
              <a:rPr lang="en-US" sz="2799" b="1" dirty="0">
                <a:solidFill>
                  <a:srgbClr val="174076"/>
                </a:solidFill>
                <a:latin typeface="Glacial Indifference"/>
                <a:ea typeface="Glacial Indifference"/>
                <a:cs typeface="Glacial Indifference"/>
                <a:sym typeface="Glacial Indifference"/>
              </a:rPr>
              <a:t>The technological advancements of the era:</a:t>
            </a:r>
            <a:r>
              <a:rPr lang="en-US" sz="2799" dirty="0">
                <a:solidFill>
                  <a:srgbClr val="174076"/>
                </a:solidFill>
                <a:latin typeface="Glacial Indifference"/>
                <a:ea typeface="Glacial Indifference"/>
                <a:cs typeface="Glacial Indifference"/>
                <a:sym typeface="Glacial Indifference"/>
              </a:rPr>
              <a:t> How does available technology influence storytelling techniques?</a:t>
            </a:r>
          </a:p>
          <a:p>
            <a:pPr marL="457200" indent="-457200" algn="l">
              <a:lnSpc>
                <a:spcPts val="4199"/>
              </a:lnSpc>
              <a:buFont typeface="Arial" panose="020B0604020202020204" pitchFamily="34" charset="0"/>
              <a:buChar char="•"/>
            </a:pPr>
            <a:r>
              <a:rPr lang="en-US" sz="2799" b="1" dirty="0">
                <a:solidFill>
                  <a:srgbClr val="174076"/>
                </a:solidFill>
                <a:latin typeface="Glacial Indifference"/>
                <a:ea typeface="Glacial Indifference"/>
                <a:cs typeface="Glacial Indifference"/>
                <a:sym typeface="Glacial Indifference"/>
              </a:rPr>
              <a:t>The intended audience and reception:</a:t>
            </a:r>
            <a:r>
              <a:rPr lang="en-US" sz="2799" dirty="0">
                <a:solidFill>
                  <a:srgbClr val="174076"/>
                </a:solidFill>
                <a:latin typeface="Glacial Indifference"/>
                <a:ea typeface="Glacial Indifference"/>
                <a:cs typeface="Glacial Indifference"/>
                <a:sym typeface="Glacial Indifference"/>
              </a:rPr>
              <a:t> How do different demographics interpret the same film differently?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txBody>
          <a:bodyPr/>
          <a:lstStyle/>
          <a:p>
            <a:endParaRPr lang="en-US"/>
          </a:p>
        </p:txBody>
      </p:sp>
      <p:sp>
        <p:nvSpPr>
          <p:cNvPr id="3" name="TextBox 3"/>
          <p:cNvSpPr txBox="1"/>
          <p:nvPr/>
        </p:nvSpPr>
        <p:spPr>
          <a:xfrm>
            <a:off x="9344401" y="3292032"/>
            <a:ext cx="7853613" cy="3693319"/>
          </a:xfrm>
          <a:prstGeom prst="rect">
            <a:avLst/>
          </a:prstGeom>
        </p:spPr>
        <p:txBody>
          <a:bodyPr lIns="0" tIns="0" rIns="0" bIns="0" rtlCol="0" anchor="t">
            <a:spAutoFit/>
          </a:bodyPr>
          <a:lstStyle/>
          <a:p>
            <a:pPr marL="0" lvl="0" indent="0" algn="l">
              <a:lnSpc>
                <a:spcPts val="9570"/>
              </a:lnSpc>
            </a:pPr>
            <a:r>
              <a:rPr lang="en-US" sz="8700" dirty="0">
                <a:solidFill>
                  <a:srgbClr val="FFFFFF"/>
                </a:solidFill>
                <a:latin typeface="Yeseva One"/>
                <a:ea typeface="Yeseva One"/>
                <a:cs typeface="Yeseva One"/>
                <a:sym typeface="Yeseva One"/>
              </a:rPr>
              <a:t>The Multi-</a:t>
            </a:r>
          </a:p>
          <a:p>
            <a:pPr marL="0" lvl="0" indent="0" algn="l">
              <a:lnSpc>
                <a:spcPts val="9570"/>
              </a:lnSpc>
            </a:pPr>
            <a:r>
              <a:rPr lang="en-US" sz="8700" dirty="0">
                <a:solidFill>
                  <a:srgbClr val="FFFFFF"/>
                </a:solidFill>
                <a:latin typeface="Yeseva One"/>
                <a:ea typeface="Yeseva One"/>
                <a:cs typeface="Yeseva One"/>
                <a:sym typeface="Yeseva One"/>
              </a:rPr>
              <a:t>Billion-Dollar</a:t>
            </a:r>
          </a:p>
          <a:p>
            <a:pPr marL="0" lvl="0" indent="0" algn="l">
              <a:lnSpc>
                <a:spcPts val="9570"/>
              </a:lnSpc>
            </a:pPr>
            <a:r>
              <a:rPr lang="en-US" sz="8700" dirty="0">
                <a:solidFill>
                  <a:srgbClr val="FFFFFF"/>
                </a:solidFill>
                <a:latin typeface="Yeseva One"/>
                <a:ea typeface="Yeseva One"/>
                <a:cs typeface="Yeseva One"/>
                <a:sym typeface="Yeseva One"/>
              </a:rPr>
              <a:t>Industry</a:t>
            </a:r>
          </a:p>
        </p:txBody>
      </p:sp>
      <p:sp>
        <p:nvSpPr>
          <p:cNvPr id="4" name="Freeform 4"/>
          <p:cNvSpPr/>
          <p:nvPr/>
        </p:nvSpPr>
        <p:spPr>
          <a:xfrm>
            <a:off x="1319218" y="1379921"/>
            <a:ext cx="6935198" cy="7517543"/>
          </a:xfrm>
          <a:custGeom>
            <a:avLst/>
            <a:gdLst/>
            <a:ahLst/>
            <a:cxnLst/>
            <a:rect l="l" t="t" r="r" b="b"/>
            <a:pathLst>
              <a:path w="6935198" h="7517543">
                <a:moveTo>
                  <a:pt x="0" y="0"/>
                </a:moveTo>
                <a:lnTo>
                  <a:pt x="6935198" y="0"/>
                </a:lnTo>
                <a:lnTo>
                  <a:pt x="6935198" y="7517543"/>
                </a:lnTo>
                <a:lnTo>
                  <a:pt x="0" y="751754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flipV="1">
            <a:off x="-4910060" y="-3852949"/>
            <a:ext cx="10287000" cy="4881649"/>
          </a:xfrm>
          <a:custGeom>
            <a:avLst/>
            <a:gdLst/>
            <a:ahLst/>
            <a:cxnLst/>
            <a:rect l="l" t="t" r="r" b="b"/>
            <a:pathLst>
              <a:path w="10287000" h="4881649">
                <a:moveTo>
                  <a:pt x="0" y="4881649"/>
                </a:moveTo>
                <a:lnTo>
                  <a:pt x="10287000" y="4881649"/>
                </a:lnTo>
                <a:lnTo>
                  <a:pt x="10287000" y="0"/>
                </a:lnTo>
                <a:lnTo>
                  <a:pt x="0" y="0"/>
                </a:lnTo>
                <a:lnTo>
                  <a:pt x="0" y="4881649"/>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rot="-5400000">
            <a:off x="5834140" y="256446"/>
            <a:ext cx="574387" cy="574387"/>
          </a:xfrm>
          <a:custGeom>
            <a:avLst/>
            <a:gdLst/>
            <a:ahLst/>
            <a:cxnLst/>
            <a:rect l="l" t="t" r="r" b="b"/>
            <a:pathLst>
              <a:path w="574387" h="574387">
                <a:moveTo>
                  <a:pt x="0" y="0"/>
                </a:moveTo>
                <a:lnTo>
                  <a:pt x="574386" y="0"/>
                </a:lnTo>
                <a:lnTo>
                  <a:pt x="574386" y="574387"/>
                </a:lnTo>
                <a:lnTo>
                  <a:pt x="0" y="5743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rot="-5400000">
            <a:off x="6865726" y="256446"/>
            <a:ext cx="574387" cy="574387"/>
          </a:xfrm>
          <a:custGeom>
            <a:avLst/>
            <a:gdLst/>
            <a:ahLst/>
            <a:cxnLst/>
            <a:rect l="l" t="t" r="r" b="b"/>
            <a:pathLst>
              <a:path w="574387" h="574387">
                <a:moveTo>
                  <a:pt x="0" y="0"/>
                </a:moveTo>
                <a:lnTo>
                  <a:pt x="574387" y="0"/>
                </a:lnTo>
                <a:lnTo>
                  <a:pt x="574387" y="574387"/>
                </a:lnTo>
                <a:lnTo>
                  <a:pt x="0" y="5743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8" name="Freeform 8"/>
          <p:cNvSpPr/>
          <p:nvPr/>
        </p:nvSpPr>
        <p:spPr>
          <a:xfrm rot="-10800000" flipV="1">
            <a:off x="13147387" y="9258300"/>
            <a:ext cx="10287000" cy="4881649"/>
          </a:xfrm>
          <a:custGeom>
            <a:avLst/>
            <a:gdLst/>
            <a:ahLst/>
            <a:cxnLst/>
            <a:rect l="l" t="t" r="r" b="b"/>
            <a:pathLst>
              <a:path w="10287000" h="4881649">
                <a:moveTo>
                  <a:pt x="0" y="4881649"/>
                </a:moveTo>
                <a:lnTo>
                  <a:pt x="10287000" y="4881649"/>
                </a:lnTo>
                <a:lnTo>
                  <a:pt x="10287000" y="0"/>
                </a:lnTo>
                <a:lnTo>
                  <a:pt x="0" y="0"/>
                </a:lnTo>
                <a:lnTo>
                  <a:pt x="0" y="4881649"/>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Freeform 9"/>
          <p:cNvSpPr/>
          <p:nvPr/>
        </p:nvSpPr>
        <p:spPr>
          <a:xfrm rot="5400000">
            <a:off x="12115800" y="9456167"/>
            <a:ext cx="574387" cy="574387"/>
          </a:xfrm>
          <a:custGeom>
            <a:avLst/>
            <a:gdLst/>
            <a:ahLst/>
            <a:cxnLst/>
            <a:rect l="l" t="t" r="r" b="b"/>
            <a:pathLst>
              <a:path w="574387" h="574387">
                <a:moveTo>
                  <a:pt x="0" y="0"/>
                </a:moveTo>
                <a:lnTo>
                  <a:pt x="574387" y="0"/>
                </a:lnTo>
                <a:lnTo>
                  <a:pt x="574387" y="574387"/>
                </a:lnTo>
                <a:lnTo>
                  <a:pt x="0" y="5743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0" name="Freeform 10"/>
          <p:cNvSpPr/>
          <p:nvPr/>
        </p:nvSpPr>
        <p:spPr>
          <a:xfrm rot="5400000">
            <a:off x="11084213" y="9456167"/>
            <a:ext cx="574387" cy="574387"/>
          </a:xfrm>
          <a:custGeom>
            <a:avLst/>
            <a:gdLst/>
            <a:ahLst/>
            <a:cxnLst/>
            <a:rect l="l" t="t" r="r" b="b"/>
            <a:pathLst>
              <a:path w="574387" h="574387">
                <a:moveTo>
                  <a:pt x="0" y="0"/>
                </a:moveTo>
                <a:lnTo>
                  <a:pt x="574387" y="0"/>
                </a:lnTo>
                <a:lnTo>
                  <a:pt x="574387" y="574387"/>
                </a:lnTo>
                <a:lnTo>
                  <a:pt x="0" y="5743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txBody>
          <a:bodyPr/>
          <a:lstStyle/>
          <a:p>
            <a:endParaRPr lang="en-US"/>
          </a:p>
        </p:txBody>
      </p:sp>
      <p:sp>
        <p:nvSpPr>
          <p:cNvPr id="3" name="TextBox 3"/>
          <p:cNvSpPr txBox="1"/>
          <p:nvPr/>
        </p:nvSpPr>
        <p:spPr>
          <a:xfrm>
            <a:off x="2854391" y="1762880"/>
            <a:ext cx="14084886" cy="2205732"/>
          </a:xfrm>
          <a:prstGeom prst="rect">
            <a:avLst/>
          </a:prstGeom>
        </p:spPr>
        <p:txBody>
          <a:bodyPr lIns="0" tIns="0" rIns="0" bIns="0" rtlCol="0" anchor="t">
            <a:spAutoFit/>
          </a:bodyPr>
          <a:lstStyle/>
          <a:p>
            <a:pPr marL="0" lvl="0" indent="0" algn="l">
              <a:lnSpc>
                <a:spcPts val="8640"/>
              </a:lnSpc>
              <a:spcBef>
                <a:spcPct val="0"/>
              </a:spcBef>
            </a:pPr>
            <a:r>
              <a:rPr lang="en-US" sz="7200" dirty="0">
                <a:solidFill>
                  <a:srgbClr val="174076"/>
                </a:solidFill>
                <a:latin typeface="Yeseva One"/>
                <a:ea typeface="Yeseva One"/>
                <a:cs typeface="Yeseva One"/>
                <a:sym typeface="Yeseva One"/>
              </a:rPr>
              <a:t>Film as a Business</a:t>
            </a:r>
          </a:p>
          <a:p>
            <a:pPr marL="0" lvl="0" indent="0" algn="l">
              <a:lnSpc>
                <a:spcPts val="8640"/>
              </a:lnSpc>
              <a:spcBef>
                <a:spcPct val="0"/>
              </a:spcBef>
            </a:pPr>
            <a:r>
              <a:rPr lang="en-US" sz="7200" dirty="0">
                <a:solidFill>
                  <a:srgbClr val="174076"/>
                </a:solidFill>
                <a:latin typeface="Yeseva One"/>
                <a:ea typeface="Yeseva One"/>
                <a:cs typeface="Yeseva One"/>
                <a:sym typeface="Yeseva One"/>
              </a:rPr>
              <a:t>Industry</a:t>
            </a:r>
          </a:p>
        </p:txBody>
      </p:sp>
      <p:sp>
        <p:nvSpPr>
          <p:cNvPr id="4" name="Freeform 4"/>
          <p:cNvSpPr/>
          <p:nvPr/>
        </p:nvSpPr>
        <p:spPr>
          <a:xfrm rot="5400000" flipH="1">
            <a:off x="-5784423" y="2600333"/>
            <a:ext cx="10718329" cy="5086334"/>
          </a:xfrm>
          <a:custGeom>
            <a:avLst/>
            <a:gdLst/>
            <a:ahLst/>
            <a:cxnLst/>
            <a:rect l="l" t="t" r="r" b="b"/>
            <a:pathLst>
              <a:path w="10718329" h="5086334">
                <a:moveTo>
                  <a:pt x="10718329" y="0"/>
                </a:moveTo>
                <a:lnTo>
                  <a:pt x="0" y="0"/>
                </a:lnTo>
                <a:lnTo>
                  <a:pt x="0" y="5086334"/>
                </a:lnTo>
                <a:lnTo>
                  <a:pt x="10718329" y="5086334"/>
                </a:lnTo>
                <a:lnTo>
                  <a:pt x="10718329"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rot="-325184">
            <a:off x="14176276" y="-443019"/>
            <a:ext cx="5263533" cy="4411798"/>
          </a:xfrm>
          <a:custGeom>
            <a:avLst/>
            <a:gdLst/>
            <a:ahLst/>
            <a:cxnLst/>
            <a:rect l="l" t="t" r="r" b="b"/>
            <a:pathLst>
              <a:path w="5263533" h="4411798">
                <a:moveTo>
                  <a:pt x="0" y="0"/>
                </a:moveTo>
                <a:lnTo>
                  <a:pt x="5263533" y="0"/>
                </a:lnTo>
                <a:lnTo>
                  <a:pt x="5263533" y="4411798"/>
                </a:lnTo>
                <a:lnTo>
                  <a:pt x="0" y="441179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rot="-1879611" flipH="1">
            <a:off x="14716801" y="5866470"/>
            <a:ext cx="4678544" cy="3921471"/>
          </a:xfrm>
          <a:custGeom>
            <a:avLst/>
            <a:gdLst/>
            <a:ahLst/>
            <a:cxnLst/>
            <a:rect l="l" t="t" r="r" b="b"/>
            <a:pathLst>
              <a:path w="4678544" h="3921471">
                <a:moveTo>
                  <a:pt x="4678544" y="0"/>
                </a:moveTo>
                <a:lnTo>
                  <a:pt x="0" y="0"/>
                </a:lnTo>
                <a:lnTo>
                  <a:pt x="0" y="3921471"/>
                </a:lnTo>
                <a:lnTo>
                  <a:pt x="4678544" y="3921471"/>
                </a:lnTo>
                <a:lnTo>
                  <a:pt x="4678544"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TextBox 7"/>
          <p:cNvSpPr txBox="1"/>
          <p:nvPr/>
        </p:nvSpPr>
        <p:spPr>
          <a:xfrm>
            <a:off x="2854391" y="4207491"/>
            <a:ext cx="12252590" cy="4263988"/>
          </a:xfrm>
          <a:prstGeom prst="rect">
            <a:avLst/>
          </a:prstGeom>
        </p:spPr>
        <p:txBody>
          <a:bodyPr lIns="0" tIns="0" rIns="0" bIns="0" rtlCol="0" anchor="t">
            <a:spAutoFit/>
          </a:bodyPr>
          <a:lstStyle/>
          <a:p>
            <a:pPr algn="l">
              <a:lnSpc>
                <a:spcPts val="4199"/>
              </a:lnSpc>
            </a:pPr>
            <a:r>
              <a:rPr lang="en-US" sz="2799" dirty="0">
                <a:solidFill>
                  <a:srgbClr val="174076"/>
                </a:solidFill>
                <a:latin typeface="Glacial Indifference"/>
                <a:ea typeface="Glacial Indifference"/>
                <a:cs typeface="Glacial Indifference"/>
                <a:sym typeface="Glacial Indifference"/>
              </a:rPr>
              <a:t>The film industry blends artistic expression with commercial strategy, shaping both content and accessibility. Like the news media, market trends influence which films get made and how they reach audiences. At the same time, storytelling remains central, with drama, narrative appeal, and audience engagement driving financial success. From mainstream blockbusters to independent films, documentaries, and animation, each sector follows its own economic model, balancing creativity with commercial demands in an evolving marketplace.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H="1">
            <a:off x="-422547" y="8428956"/>
            <a:ext cx="19120450" cy="9073522"/>
          </a:xfrm>
          <a:custGeom>
            <a:avLst/>
            <a:gdLst/>
            <a:ahLst/>
            <a:cxnLst/>
            <a:rect l="l" t="t" r="r" b="b"/>
            <a:pathLst>
              <a:path w="19120450" h="9073522">
                <a:moveTo>
                  <a:pt x="19120450" y="0"/>
                </a:moveTo>
                <a:lnTo>
                  <a:pt x="0" y="0"/>
                </a:lnTo>
                <a:lnTo>
                  <a:pt x="0" y="9073522"/>
                </a:lnTo>
                <a:lnTo>
                  <a:pt x="19120450" y="9073522"/>
                </a:lnTo>
                <a:lnTo>
                  <a:pt x="1912045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TextBox 16"/>
          <p:cNvSpPr txBox="1"/>
          <p:nvPr/>
        </p:nvSpPr>
        <p:spPr>
          <a:xfrm>
            <a:off x="1034703" y="1294708"/>
            <a:ext cx="16230600" cy="1153586"/>
          </a:xfrm>
          <a:prstGeom prst="rect">
            <a:avLst/>
          </a:prstGeom>
        </p:spPr>
        <p:txBody>
          <a:bodyPr lIns="0" tIns="0" rIns="0" bIns="0" rtlCol="0" anchor="t">
            <a:spAutoFit/>
          </a:bodyPr>
          <a:lstStyle/>
          <a:p>
            <a:pPr marL="0" lvl="0" indent="0" algn="ctr">
              <a:lnSpc>
                <a:spcPts val="9600"/>
              </a:lnSpc>
              <a:spcBef>
                <a:spcPct val="0"/>
              </a:spcBef>
            </a:pPr>
            <a:r>
              <a:rPr lang="en-US" sz="6600" dirty="0">
                <a:solidFill>
                  <a:srgbClr val="174076"/>
                </a:solidFill>
                <a:latin typeface="Yeseva One"/>
                <a:ea typeface="Yeseva One"/>
                <a:cs typeface="Yeseva One"/>
                <a:sym typeface="Yeseva One"/>
              </a:rPr>
              <a:t>The Film Production Process</a:t>
            </a:r>
          </a:p>
        </p:txBody>
      </p:sp>
      <p:sp>
        <p:nvSpPr>
          <p:cNvPr id="17" name="TextBox 17"/>
          <p:cNvSpPr txBox="1"/>
          <p:nvPr/>
        </p:nvSpPr>
        <p:spPr>
          <a:xfrm>
            <a:off x="1034703" y="2780852"/>
            <a:ext cx="16230600" cy="1032334"/>
          </a:xfrm>
          <a:prstGeom prst="rect">
            <a:avLst/>
          </a:prstGeom>
        </p:spPr>
        <p:txBody>
          <a:bodyPr lIns="0" tIns="0" rIns="0" bIns="0" rtlCol="0" anchor="t">
            <a:spAutoFit/>
          </a:bodyPr>
          <a:lstStyle/>
          <a:p>
            <a:pPr marL="0" lvl="0" indent="0" algn="ctr">
              <a:lnSpc>
                <a:spcPts val="4199"/>
              </a:lnSpc>
              <a:spcBef>
                <a:spcPct val="0"/>
              </a:spcBef>
            </a:pPr>
            <a:r>
              <a:rPr lang="en-US" sz="2799" dirty="0">
                <a:solidFill>
                  <a:srgbClr val="174076"/>
                </a:solidFill>
                <a:latin typeface="Glacial Indifference"/>
                <a:ea typeface="Glacial Indifference"/>
                <a:cs typeface="Glacial Indifference"/>
                <a:sym typeface="Glacial Indifference"/>
              </a:rPr>
              <a:t>Every film undergoes a structured development process that influences the final product. Each stage involves critical choices, including:</a:t>
            </a:r>
          </a:p>
        </p:txBody>
      </p:sp>
      <p:sp>
        <p:nvSpPr>
          <p:cNvPr id="18" name="Freeform 18"/>
          <p:cNvSpPr/>
          <p:nvPr/>
        </p:nvSpPr>
        <p:spPr>
          <a:xfrm rot="-1228794">
            <a:off x="747949" y="-311036"/>
            <a:ext cx="2466714" cy="1744639"/>
          </a:xfrm>
          <a:custGeom>
            <a:avLst/>
            <a:gdLst/>
            <a:ahLst/>
            <a:cxnLst/>
            <a:rect l="l" t="t" r="r" b="b"/>
            <a:pathLst>
              <a:path w="2466714" h="1744639">
                <a:moveTo>
                  <a:pt x="0" y="0"/>
                </a:moveTo>
                <a:lnTo>
                  <a:pt x="2466714" y="0"/>
                </a:lnTo>
                <a:lnTo>
                  <a:pt x="2466714" y="1744639"/>
                </a:lnTo>
                <a:lnTo>
                  <a:pt x="0" y="174463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9" name="Freeform 19"/>
          <p:cNvSpPr/>
          <p:nvPr/>
        </p:nvSpPr>
        <p:spPr>
          <a:xfrm rot="1190709">
            <a:off x="15077699" y="-454185"/>
            <a:ext cx="2466714" cy="1744639"/>
          </a:xfrm>
          <a:custGeom>
            <a:avLst/>
            <a:gdLst/>
            <a:ahLst/>
            <a:cxnLst/>
            <a:rect l="l" t="t" r="r" b="b"/>
            <a:pathLst>
              <a:path w="2466714" h="1744639">
                <a:moveTo>
                  <a:pt x="0" y="0"/>
                </a:moveTo>
                <a:lnTo>
                  <a:pt x="2466714" y="0"/>
                </a:lnTo>
                <a:lnTo>
                  <a:pt x="2466714" y="1744640"/>
                </a:lnTo>
                <a:lnTo>
                  <a:pt x="0" y="17446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0" name="Freeform 20"/>
          <p:cNvSpPr/>
          <p:nvPr/>
        </p:nvSpPr>
        <p:spPr>
          <a:xfrm rot="-1228794">
            <a:off x="-1656223" y="1709199"/>
            <a:ext cx="2466714" cy="1744639"/>
          </a:xfrm>
          <a:custGeom>
            <a:avLst/>
            <a:gdLst/>
            <a:ahLst/>
            <a:cxnLst/>
            <a:rect l="l" t="t" r="r" b="b"/>
            <a:pathLst>
              <a:path w="2466714" h="1744639">
                <a:moveTo>
                  <a:pt x="0" y="0"/>
                </a:moveTo>
                <a:lnTo>
                  <a:pt x="2466714" y="0"/>
                </a:lnTo>
                <a:lnTo>
                  <a:pt x="2466714" y="1744640"/>
                </a:lnTo>
                <a:lnTo>
                  <a:pt x="0" y="17446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Freeform 21"/>
          <p:cNvSpPr/>
          <p:nvPr/>
        </p:nvSpPr>
        <p:spPr>
          <a:xfrm rot="1190709">
            <a:off x="17481871" y="1699704"/>
            <a:ext cx="2466714" cy="1744639"/>
          </a:xfrm>
          <a:custGeom>
            <a:avLst/>
            <a:gdLst/>
            <a:ahLst/>
            <a:cxnLst/>
            <a:rect l="l" t="t" r="r" b="b"/>
            <a:pathLst>
              <a:path w="2466714" h="1744639">
                <a:moveTo>
                  <a:pt x="0" y="0"/>
                </a:moveTo>
                <a:lnTo>
                  <a:pt x="2466714" y="0"/>
                </a:lnTo>
                <a:lnTo>
                  <a:pt x="2466714" y="1744640"/>
                </a:lnTo>
                <a:lnTo>
                  <a:pt x="0" y="17446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4" name="TextBox 17">
            <a:extLst>
              <a:ext uri="{FF2B5EF4-FFF2-40B4-BE49-F238E27FC236}">
                <a16:creationId xmlns:a16="http://schemas.microsoft.com/office/drawing/2014/main" id="{B40A9407-84E7-DE38-1A96-D15FFAF6262F}"/>
              </a:ext>
            </a:extLst>
          </p:cNvPr>
          <p:cNvSpPr txBox="1"/>
          <p:nvPr/>
        </p:nvSpPr>
        <p:spPr>
          <a:xfrm>
            <a:off x="1028381" y="4010296"/>
            <a:ext cx="16230600" cy="3186770"/>
          </a:xfrm>
          <a:prstGeom prst="rect">
            <a:avLst/>
          </a:prstGeom>
        </p:spPr>
        <p:txBody>
          <a:bodyPr lIns="0" tIns="0" rIns="0" bIns="0" rtlCol="0" anchor="t">
            <a:spAutoFit/>
          </a:bodyPr>
          <a:lstStyle/>
          <a:p>
            <a:pPr marL="457200" lvl="0" indent="-457200" algn="ctr">
              <a:lnSpc>
                <a:spcPts val="4199"/>
              </a:lnSpc>
              <a:spcBef>
                <a:spcPct val="0"/>
              </a:spcBef>
              <a:buFont typeface="Arial" panose="020B0604020202020204" pitchFamily="34" charset="0"/>
              <a:buChar char="•"/>
            </a:pPr>
            <a:r>
              <a:rPr lang="en-US" sz="2799" b="1" dirty="0">
                <a:solidFill>
                  <a:srgbClr val="174076"/>
                </a:solidFill>
                <a:latin typeface="Glacial Indifference"/>
                <a:ea typeface="Glacial Indifference"/>
                <a:cs typeface="Glacial Indifference"/>
                <a:sym typeface="Glacial Indifference"/>
              </a:rPr>
              <a:t>Development:</a:t>
            </a:r>
            <a:r>
              <a:rPr lang="en-US" sz="2799" dirty="0">
                <a:solidFill>
                  <a:srgbClr val="174076"/>
                </a:solidFill>
                <a:latin typeface="Glacial Indifference"/>
                <a:ea typeface="Glacial Indifference"/>
                <a:cs typeface="Glacial Indifference"/>
                <a:sym typeface="Glacial Indifference"/>
              </a:rPr>
              <a:t> Who determines which scripts get funded and produced?</a:t>
            </a:r>
          </a:p>
          <a:p>
            <a:pPr marL="457200" lvl="0" indent="-457200" algn="ctr">
              <a:lnSpc>
                <a:spcPts val="4199"/>
              </a:lnSpc>
              <a:spcBef>
                <a:spcPct val="0"/>
              </a:spcBef>
              <a:buFont typeface="Arial" panose="020B0604020202020204" pitchFamily="34" charset="0"/>
              <a:buChar char="•"/>
            </a:pPr>
            <a:r>
              <a:rPr lang="en-US" sz="2799" b="1" dirty="0">
                <a:solidFill>
                  <a:srgbClr val="174076"/>
                </a:solidFill>
                <a:latin typeface="Glacial Indifference"/>
                <a:ea typeface="Glacial Indifference"/>
                <a:cs typeface="Glacial Indifference"/>
                <a:sym typeface="Glacial Indifference"/>
              </a:rPr>
              <a:t>Pre-production: </a:t>
            </a:r>
            <a:r>
              <a:rPr lang="en-US" sz="2799" dirty="0">
                <a:solidFill>
                  <a:srgbClr val="174076"/>
                </a:solidFill>
                <a:latin typeface="Glacial Indifference"/>
                <a:ea typeface="Glacial Indifference"/>
                <a:cs typeface="Glacial Indifference"/>
                <a:sym typeface="Glacial Indifference"/>
              </a:rPr>
              <a:t>How do casting decisions and location choices shape the film’s narrative?</a:t>
            </a:r>
          </a:p>
          <a:p>
            <a:pPr marL="457200" lvl="0" indent="-457200" algn="ctr">
              <a:lnSpc>
                <a:spcPts val="4199"/>
              </a:lnSpc>
              <a:spcBef>
                <a:spcPct val="0"/>
              </a:spcBef>
              <a:buFont typeface="Arial" panose="020B0604020202020204" pitchFamily="34" charset="0"/>
              <a:buChar char="•"/>
            </a:pPr>
            <a:r>
              <a:rPr lang="en-US" sz="2799" b="1" dirty="0">
                <a:solidFill>
                  <a:srgbClr val="174076"/>
                </a:solidFill>
                <a:latin typeface="Glacial Indifference"/>
                <a:ea typeface="Glacial Indifference"/>
                <a:cs typeface="Glacial Indifference"/>
                <a:sym typeface="Glacial Indifference"/>
              </a:rPr>
              <a:t>Production: </a:t>
            </a:r>
            <a:r>
              <a:rPr lang="en-US" sz="2799" dirty="0">
                <a:solidFill>
                  <a:srgbClr val="174076"/>
                </a:solidFill>
                <a:latin typeface="Glacial Indifference"/>
                <a:ea typeface="Glacial Indifference"/>
                <a:cs typeface="Glacial Indifference"/>
                <a:sym typeface="Glacial Indifference"/>
              </a:rPr>
              <a:t>What directorial styles, cinematographic techniques, and performance choices define the film?</a:t>
            </a:r>
          </a:p>
          <a:p>
            <a:pPr marL="457200" lvl="0" indent="-457200" algn="ctr">
              <a:lnSpc>
                <a:spcPts val="4199"/>
              </a:lnSpc>
              <a:spcBef>
                <a:spcPct val="0"/>
              </a:spcBef>
              <a:buFont typeface="Arial" panose="020B0604020202020204" pitchFamily="34" charset="0"/>
              <a:buChar char="•"/>
            </a:pPr>
            <a:r>
              <a:rPr lang="en-US" sz="2799" b="1" dirty="0">
                <a:solidFill>
                  <a:srgbClr val="174076"/>
                </a:solidFill>
                <a:latin typeface="Glacial Indifference"/>
                <a:ea typeface="Glacial Indifference"/>
                <a:cs typeface="Glacial Indifference"/>
                <a:sym typeface="Glacial Indifference"/>
              </a:rPr>
              <a:t>Post-production: </a:t>
            </a:r>
            <a:r>
              <a:rPr lang="en-US" sz="2799" dirty="0">
                <a:solidFill>
                  <a:srgbClr val="174076"/>
                </a:solidFill>
                <a:latin typeface="Glacial Indifference"/>
                <a:ea typeface="Glacial Indifference"/>
                <a:cs typeface="Glacial Indifference"/>
                <a:sym typeface="Glacial Indifference"/>
              </a:rPr>
              <a:t>How do editing, visual effects, and sound design alter the story’s impact?</a:t>
            </a:r>
          </a:p>
          <a:p>
            <a:pPr marL="457200" lvl="0" indent="-457200" algn="ctr">
              <a:lnSpc>
                <a:spcPts val="4199"/>
              </a:lnSpc>
              <a:spcBef>
                <a:spcPct val="0"/>
              </a:spcBef>
              <a:buFont typeface="Arial" panose="020B0604020202020204" pitchFamily="34" charset="0"/>
              <a:buChar char="•"/>
            </a:pPr>
            <a:r>
              <a:rPr lang="en-US" sz="2799" b="1" dirty="0">
                <a:solidFill>
                  <a:srgbClr val="174076"/>
                </a:solidFill>
                <a:latin typeface="Glacial Indifference"/>
                <a:ea typeface="Glacial Indifference"/>
                <a:cs typeface="Glacial Indifference"/>
                <a:sym typeface="Glacial Indifference"/>
              </a:rPr>
              <a:t>Distribution and marketing: </a:t>
            </a:r>
            <a:r>
              <a:rPr lang="en-US" sz="2799" dirty="0">
                <a:solidFill>
                  <a:srgbClr val="174076"/>
                </a:solidFill>
                <a:latin typeface="Glacial Indifference"/>
                <a:ea typeface="Glacial Indifference"/>
                <a:cs typeface="Glacial Indifference"/>
                <a:sym typeface="Glacial Indifference"/>
              </a:rPr>
              <a:t>How does promotion shape audience expectations and engagement?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txBody>
          <a:bodyPr/>
          <a:lstStyle/>
          <a:p>
            <a:endParaRPr lang="en-US"/>
          </a:p>
        </p:txBody>
      </p:sp>
      <p:sp>
        <p:nvSpPr>
          <p:cNvPr id="3" name="Freeform 3"/>
          <p:cNvSpPr/>
          <p:nvPr/>
        </p:nvSpPr>
        <p:spPr>
          <a:xfrm rot="5400000" flipH="1">
            <a:off x="934451" y="10410828"/>
            <a:ext cx="24116332" cy="11444296"/>
          </a:xfrm>
          <a:custGeom>
            <a:avLst/>
            <a:gdLst/>
            <a:ahLst/>
            <a:cxnLst/>
            <a:rect l="l" t="t" r="r" b="b"/>
            <a:pathLst>
              <a:path w="24116332" h="11444296">
                <a:moveTo>
                  <a:pt x="24116331" y="0"/>
                </a:moveTo>
                <a:lnTo>
                  <a:pt x="0" y="0"/>
                </a:lnTo>
                <a:lnTo>
                  <a:pt x="0" y="11444296"/>
                </a:lnTo>
                <a:lnTo>
                  <a:pt x="24116331" y="11444296"/>
                </a:lnTo>
                <a:lnTo>
                  <a:pt x="24116331"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970141" y="876300"/>
            <a:ext cx="8417865" cy="7495642"/>
          </a:xfrm>
          <a:prstGeom prst="rect">
            <a:avLst/>
          </a:prstGeom>
        </p:spPr>
        <p:txBody>
          <a:bodyPr lIns="0" tIns="0" rIns="0" bIns="0" rtlCol="0" anchor="t">
            <a:spAutoFit/>
          </a:bodyPr>
          <a:lstStyle/>
          <a:p>
            <a:pPr marL="302259" lvl="1" algn="l">
              <a:lnSpc>
                <a:spcPts val="4199"/>
              </a:lnSpc>
            </a:pPr>
            <a:r>
              <a:rPr lang="en-US" sz="2799" dirty="0">
                <a:solidFill>
                  <a:srgbClr val="174076"/>
                </a:solidFill>
                <a:latin typeface="Glacial Indifference"/>
                <a:ea typeface="Glacial Indifference"/>
                <a:cs typeface="Glacial Indifference"/>
                <a:sym typeface="Glacial Indifference"/>
              </a:rPr>
              <a:t>The rise of digital technology has transformed how films are made, distributed, and consumed. This shift is shaped by:</a:t>
            </a:r>
          </a:p>
          <a:p>
            <a:pPr marL="604519" lvl="1" indent="-302260" algn="l">
              <a:lnSpc>
                <a:spcPts val="4199"/>
              </a:lnSpc>
              <a:buFont typeface="Arial"/>
              <a:buChar char="•"/>
            </a:pPr>
            <a:r>
              <a:rPr lang="en-US" sz="2799" b="1" dirty="0">
                <a:solidFill>
                  <a:srgbClr val="174076"/>
                </a:solidFill>
                <a:latin typeface="Glacial Indifference"/>
                <a:ea typeface="Glacial Indifference"/>
                <a:cs typeface="Glacial Indifference"/>
                <a:sym typeface="Glacial Indifference"/>
              </a:rPr>
              <a:t>Streaming services: </a:t>
            </a:r>
            <a:r>
              <a:rPr lang="en-US" sz="2799" dirty="0">
                <a:solidFill>
                  <a:srgbClr val="174076"/>
                </a:solidFill>
                <a:latin typeface="Glacial Indifference"/>
                <a:ea typeface="Glacial Indifference"/>
                <a:cs typeface="Glacial Indifference"/>
                <a:sym typeface="Glacial Indifference"/>
              </a:rPr>
              <a:t>Who controls access to films, and how does this change audience habits?</a:t>
            </a:r>
          </a:p>
          <a:p>
            <a:pPr marL="604519" lvl="1" indent="-302260" algn="l">
              <a:lnSpc>
                <a:spcPts val="4199"/>
              </a:lnSpc>
              <a:buFont typeface="Arial"/>
              <a:buChar char="•"/>
            </a:pPr>
            <a:r>
              <a:rPr lang="en-US" sz="2799" b="1" dirty="0">
                <a:solidFill>
                  <a:srgbClr val="174076"/>
                </a:solidFill>
                <a:latin typeface="Glacial Indifference"/>
                <a:ea typeface="Glacial Indifference"/>
                <a:cs typeface="Glacial Indifference"/>
                <a:sym typeface="Glacial Indifference"/>
              </a:rPr>
              <a:t>Advancements in CGI and special effects: </a:t>
            </a:r>
            <a:r>
              <a:rPr lang="en-US" sz="2799" dirty="0">
                <a:solidFill>
                  <a:srgbClr val="174076"/>
                </a:solidFill>
                <a:latin typeface="Glacial Indifference"/>
                <a:ea typeface="Glacial Indifference"/>
                <a:cs typeface="Glacial Indifference"/>
                <a:sym typeface="Glacial Indifference"/>
              </a:rPr>
              <a:t>How do visual technologies shape what stories can be told?</a:t>
            </a:r>
          </a:p>
          <a:p>
            <a:pPr marL="604519" lvl="1" indent="-302260" algn="l">
              <a:lnSpc>
                <a:spcPts val="4199"/>
              </a:lnSpc>
              <a:buFont typeface="Arial"/>
              <a:buChar char="•"/>
            </a:pPr>
            <a:r>
              <a:rPr lang="en-US" sz="2799" b="1" dirty="0">
                <a:solidFill>
                  <a:srgbClr val="174076"/>
                </a:solidFill>
                <a:latin typeface="Glacial Indifference"/>
                <a:ea typeface="Glacial Indifference"/>
                <a:cs typeface="Glacial Indifference"/>
                <a:sym typeface="Glacial Indifference"/>
              </a:rPr>
              <a:t>Social media and marketing: </a:t>
            </a:r>
            <a:r>
              <a:rPr lang="en-US" sz="2799" dirty="0">
                <a:solidFill>
                  <a:srgbClr val="174076"/>
                </a:solidFill>
                <a:latin typeface="Glacial Indifference"/>
                <a:ea typeface="Glacial Indifference"/>
                <a:cs typeface="Glacial Indifference"/>
                <a:sym typeface="Glacial Indifference"/>
              </a:rPr>
              <a:t>How do viral campaigns and direct audience interaction influence a film’s success?</a:t>
            </a:r>
          </a:p>
          <a:p>
            <a:pPr marL="604519" lvl="1" indent="-302260" algn="l">
              <a:lnSpc>
                <a:spcPts val="4199"/>
              </a:lnSpc>
              <a:buFont typeface="Arial"/>
              <a:buChar char="•"/>
            </a:pPr>
            <a:r>
              <a:rPr lang="en-US" sz="2799" b="1" dirty="0">
                <a:solidFill>
                  <a:srgbClr val="174076"/>
                </a:solidFill>
                <a:latin typeface="Glacial Indifference"/>
                <a:ea typeface="Glacial Indifference"/>
                <a:cs typeface="Glacial Indifference"/>
                <a:sym typeface="Glacial Indifference"/>
              </a:rPr>
              <a:t>Independent filmmaking: </a:t>
            </a:r>
            <a:r>
              <a:rPr lang="en-US" sz="2799" dirty="0">
                <a:solidFill>
                  <a:srgbClr val="174076"/>
                </a:solidFill>
                <a:latin typeface="Glacial Indifference"/>
                <a:ea typeface="Glacial Indifference"/>
                <a:cs typeface="Glacial Indifference"/>
                <a:sym typeface="Glacial Indifference"/>
              </a:rPr>
              <a:t>How do lower production costs and digital platforms challenge traditional studios?</a:t>
            </a:r>
          </a:p>
        </p:txBody>
      </p:sp>
      <p:sp>
        <p:nvSpPr>
          <p:cNvPr id="7" name="Freeform 7"/>
          <p:cNvSpPr/>
          <p:nvPr/>
        </p:nvSpPr>
        <p:spPr>
          <a:xfrm rot="1291744">
            <a:off x="11597366" y="179435"/>
            <a:ext cx="6433868" cy="3785509"/>
          </a:xfrm>
          <a:custGeom>
            <a:avLst/>
            <a:gdLst/>
            <a:ahLst/>
            <a:cxnLst/>
            <a:rect l="l" t="t" r="r" b="b"/>
            <a:pathLst>
              <a:path w="6433868" h="3785509">
                <a:moveTo>
                  <a:pt x="0" y="0"/>
                </a:moveTo>
                <a:lnTo>
                  <a:pt x="6433868" y="0"/>
                </a:lnTo>
                <a:lnTo>
                  <a:pt x="6433868" y="3785509"/>
                </a:lnTo>
                <a:lnTo>
                  <a:pt x="0" y="37855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Freeform 9"/>
          <p:cNvSpPr/>
          <p:nvPr/>
        </p:nvSpPr>
        <p:spPr>
          <a:xfrm rot="777021">
            <a:off x="-434632" y="8466375"/>
            <a:ext cx="3288185" cy="1934676"/>
          </a:xfrm>
          <a:custGeom>
            <a:avLst/>
            <a:gdLst/>
            <a:ahLst/>
            <a:cxnLst/>
            <a:rect l="l" t="t" r="r" b="b"/>
            <a:pathLst>
              <a:path w="3288185" h="1934676">
                <a:moveTo>
                  <a:pt x="0" y="0"/>
                </a:moveTo>
                <a:lnTo>
                  <a:pt x="3288185" y="0"/>
                </a:lnTo>
                <a:lnTo>
                  <a:pt x="3288185" y="1934676"/>
                </a:lnTo>
                <a:lnTo>
                  <a:pt x="0" y="193467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TextBox 5">
            <a:extLst>
              <a:ext uri="{FF2B5EF4-FFF2-40B4-BE49-F238E27FC236}">
                <a16:creationId xmlns:a16="http://schemas.microsoft.com/office/drawing/2014/main" id="{BD41F926-73E4-99A4-B7A6-5A22257CB6F8}"/>
              </a:ext>
            </a:extLst>
          </p:cNvPr>
          <p:cNvSpPr txBox="1"/>
          <p:nvPr/>
        </p:nvSpPr>
        <p:spPr>
          <a:xfrm>
            <a:off x="10778454" y="5030180"/>
            <a:ext cx="7601231" cy="4411464"/>
          </a:xfrm>
          <a:prstGeom prst="rect">
            <a:avLst/>
          </a:prstGeom>
        </p:spPr>
        <p:txBody>
          <a:bodyPr lIns="0" tIns="0" rIns="0" bIns="0" rtlCol="0" anchor="t">
            <a:spAutoFit/>
          </a:bodyPr>
          <a:lstStyle/>
          <a:p>
            <a:pPr marL="0" lvl="0" indent="0" algn="l">
              <a:lnSpc>
                <a:spcPts val="8640"/>
              </a:lnSpc>
              <a:spcBef>
                <a:spcPct val="0"/>
              </a:spcBef>
            </a:pPr>
            <a:r>
              <a:rPr lang="en-US" sz="7200" dirty="0">
                <a:solidFill>
                  <a:srgbClr val="174076"/>
                </a:solidFill>
                <a:latin typeface="Yeseva One"/>
                <a:ea typeface="Yeseva One"/>
                <a:cs typeface="Yeseva One"/>
                <a:sym typeface="Yeseva One"/>
              </a:rPr>
              <a:t>The Impact of Digital Technology on Film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txBody>
          <a:bodyPr/>
          <a:lstStyle/>
          <a:p>
            <a:endParaRPr lang="en-US"/>
          </a:p>
        </p:txBody>
      </p:sp>
      <p:sp>
        <p:nvSpPr>
          <p:cNvPr id="3" name="TextBox 3"/>
          <p:cNvSpPr txBox="1"/>
          <p:nvPr/>
        </p:nvSpPr>
        <p:spPr>
          <a:xfrm>
            <a:off x="1677498" y="3219088"/>
            <a:ext cx="14110882" cy="5879815"/>
          </a:xfrm>
          <a:prstGeom prst="rect">
            <a:avLst/>
          </a:prstGeom>
        </p:spPr>
        <p:txBody>
          <a:bodyPr lIns="0" tIns="0" rIns="0" bIns="0" rtlCol="0" anchor="t">
            <a:spAutoFit/>
          </a:bodyPr>
          <a:lstStyle/>
          <a:p>
            <a:pPr algn="l">
              <a:lnSpc>
                <a:spcPts val="4199"/>
              </a:lnSpc>
            </a:pPr>
            <a:r>
              <a:rPr lang="en-US" sz="2799" dirty="0">
                <a:solidFill>
                  <a:srgbClr val="174076"/>
                </a:solidFill>
                <a:latin typeface="Glacial Indifference"/>
                <a:ea typeface="Glacial Indifference"/>
                <a:cs typeface="Glacial Indifference"/>
                <a:sym typeface="Glacial Indifference"/>
              </a:rPr>
              <a:t>Despite its reach and influence, the film industry faces ongoing challenges that shape its evolution, including:</a:t>
            </a:r>
          </a:p>
          <a:p>
            <a:pPr algn="l">
              <a:lnSpc>
                <a:spcPts val="4199"/>
              </a:lnSpc>
            </a:pPr>
            <a:endParaRPr lang="en-US" sz="2799" dirty="0">
              <a:solidFill>
                <a:srgbClr val="174076"/>
              </a:solidFill>
              <a:latin typeface="Glacial Indifference"/>
              <a:ea typeface="Glacial Indifference"/>
              <a:cs typeface="Glacial Indifference"/>
              <a:sym typeface="Glacial Indifference"/>
            </a:endParaRPr>
          </a:p>
          <a:p>
            <a:pPr marL="457200" indent="-457200" algn="l">
              <a:lnSpc>
                <a:spcPts val="4199"/>
              </a:lnSpc>
              <a:buFont typeface="Arial" panose="020B0604020202020204" pitchFamily="34" charset="0"/>
              <a:buChar char="•"/>
            </a:pPr>
            <a:r>
              <a:rPr lang="en-US" sz="2799" b="1" dirty="0">
                <a:solidFill>
                  <a:srgbClr val="174076"/>
                </a:solidFill>
                <a:latin typeface="Glacial Indifference"/>
                <a:ea typeface="Glacial Indifference"/>
                <a:cs typeface="Glacial Indifference"/>
                <a:sym typeface="Glacial Indifference"/>
              </a:rPr>
              <a:t>Piracy and revenue loss: </a:t>
            </a:r>
            <a:r>
              <a:rPr lang="en-US" sz="2799" dirty="0">
                <a:solidFill>
                  <a:srgbClr val="174076"/>
                </a:solidFill>
                <a:latin typeface="Glacial Indifference"/>
                <a:ea typeface="Glacial Indifference"/>
                <a:cs typeface="Glacial Indifference"/>
                <a:sym typeface="Glacial Indifference"/>
              </a:rPr>
              <a:t>How do illegal downloads and unauthorized streaming affect profitability?</a:t>
            </a:r>
          </a:p>
          <a:p>
            <a:pPr marL="457200" indent="-457200" algn="l">
              <a:lnSpc>
                <a:spcPts val="4199"/>
              </a:lnSpc>
              <a:buFont typeface="Arial" panose="020B0604020202020204" pitchFamily="34" charset="0"/>
              <a:buChar char="•"/>
            </a:pPr>
            <a:r>
              <a:rPr lang="en-US" sz="2799" b="1" dirty="0">
                <a:solidFill>
                  <a:srgbClr val="174076"/>
                </a:solidFill>
                <a:latin typeface="Glacial Indifference"/>
                <a:ea typeface="Glacial Indifference"/>
                <a:cs typeface="Glacial Indifference"/>
                <a:sym typeface="Glacial Indifference"/>
              </a:rPr>
              <a:t>High production costs:</a:t>
            </a:r>
            <a:r>
              <a:rPr lang="en-US" sz="2799" dirty="0">
                <a:solidFill>
                  <a:srgbClr val="174076"/>
                </a:solidFill>
                <a:latin typeface="Glacial Indifference"/>
                <a:ea typeface="Glacial Indifference"/>
                <a:cs typeface="Glacial Indifference"/>
                <a:sym typeface="Glacial Indifference"/>
              </a:rPr>
              <a:t> What financial risks do filmmakers take, and how do budgets impact creative decisions?</a:t>
            </a:r>
          </a:p>
          <a:p>
            <a:pPr marL="457200" indent="-457200" algn="l">
              <a:lnSpc>
                <a:spcPts val="4199"/>
              </a:lnSpc>
              <a:buFont typeface="Arial" panose="020B0604020202020204" pitchFamily="34" charset="0"/>
              <a:buChar char="•"/>
            </a:pPr>
            <a:r>
              <a:rPr lang="en-US" sz="2799" b="1" dirty="0">
                <a:solidFill>
                  <a:srgbClr val="174076"/>
                </a:solidFill>
                <a:latin typeface="Glacial Indifference"/>
                <a:ea typeface="Glacial Indifference"/>
                <a:cs typeface="Glacial Indifference"/>
                <a:sym typeface="Glacial Indifference"/>
              </a:rPr>
              <a:t>Censorship and regulations: </a:t>
            </a:r>
            <a:r>
              <a:rPr lang="en-US" sz="2799" dirty="0">
                <a:solidFill>
                  <a:srgbClr val="174076"/>
                </a:solidFill>
                <a:latin typeface="Glacial Indifference"/>
                <a:ea typeface="Glacial Indifference"/>
                <a:cs typeface="Glacial Indifference"/>
                <a:sym typeface="Glacial Indifference"/>
              </a:rPr>
              <a:t>Who decides what content is acceptable, and how do these rules differ across regions?</a:t>
            </a:r>
          </a:p>
          <a:p>
            <a:pPr marL="457200" indent="-457200" algn="l">
              <a:lnSpc>
                <a:spcPts val="4199"/>
              </a:lnSpc>
              <a:buFont typeface="Arial" panose="020B0604020202020204" pitchFamily="34" charset="0"/>
              <a:buChar char="•"/>
            </a:pPr>
            <a:r>
              <a:rPr lang="en-US" sz="2799" b="1" dirty="0">
                <a:solidFill>
                  <a:srgbClr val="174076"/>
                </a:solidFill>
                <a:latin typeface="Glacial Indifference"/>
                <a:ea typeface="Glacial Indifference"/>
                <a:cs typeface="Glacial Indifference"/>
                <a:sym typeface="Glacial Indifference"/>
              </a:rPr>
              <a:t>Changing audience preferences:</a:t>
            </a:r>
            <a:r>
              <a:rPr lang="en-US" sz="2799" dirty="0">
                <a:solidFill>
                  <a:srgbClr val="174076"/>
                </a:solidFill>
                <a:latin typeface="Glacial Indifference"/>
                <a:ea typeface="Glacial Indifference"/>
                <a:cs typeface="Glacial Indifference"/>
                <a:sym typeface="Glacial Indifference"/>
              </a:rPr>
              <a:t> How do filmmakers adapt to evolving viewing habits and cultural shifts?</a:t>
            </a:r>
          </a:p>
        </p:txBody>
      </p:sp>
      <p:sp>
        <p:nvSpPr>
          <p:cNvPr id="4" name="TextBox 4"/>
          <p:cNvSpPr txBox="1"/>
          <p:nvPr/>
        </p:nvSpPr>
        <p:spPr>
          <a:xfrm>
            <a:off x="1696548" y="518056"/>
            <a:ext cx="11809902" cy="2205732"/>
          </a:xfrm>
          <a:prstGeom prst="rect">
            <a:avLst/>
          </a:prstGeom>
        </p:spPr>
        <p:txBody>
          <a:bodyPr wrap="square" lIns="0" tIns="0" rIns="0" bIns="0" rtlCol="0" anchor="t">
            <a:spAutoFit/>
          </a:bodyPr>
          <a:lstStyle/>
          <a:p>
            <a:pPr marL="0" lvl="0" indent="0" algn="l">
              <a:lnSpc>
                <a:spcPts val="8640"/>
              </a:lnSpc>
              <a:spcBef>
                <a:spcPct val="0"/>
              </a:spcBef>
            </a:pPr>
            <a:r>
              <a:rPr lang="en-US" sz="7200" dirty="0">
                <a:solidFill>
                  <a:srgbClr val="174076"/>
                </a:solidFill>
                <a:latin typeface="Yeseva One"/>
                <a:ea typeface="Yeseva One"/>
                <a:cs typeface="Yeseva One"/>
                <a:sym typeface="Yeseva One"/>
              </a:rPr>
              <a:t>Challenges in the Film Industry</a:t>
            </a:r>
          </a:p>
        </p:txBody>
      </p:sp>
      <p:sp>
        <p:nvSpPr>
          <p:cNvPr id="5" name="Freeform 5"/>
          <p:cNvSpPr/>
          <p:nvPr/>
        </p:nvSpPr>
        <p:spPr>
          <a:xfrm rot="5400000" flipH="1">
            <a:off x="-6555625" y="-2440825"/>
            <a:ext cx="10287000" cy="4881649"/>
          </a:xfrm>
          <a:custGeom>
            <a:avLst/>
            <a:gdLst/>
            <a:ahLst/>
            <a:cxnLst/>
            <a:rect l="l" t="t" r="r" b="b"/>
            <a:pathLst>
              <a:path w="10287000" h="4881649">
                <a:moveTo>
                  <a:pt x="10287000" y="0"/>
                </a:moveTo>
                <a:lnTo>
                  <a:pt x="0" y="0"/>
                </a:lnTo>
                <a:lnTo>
                  <a:pt x="0" y="4881650"/>
                </a:lnTo>
                <a:lnTo>
                  <a:pt x="10287000" y="4881650"/>
                </a:lnTo>
                <a:lnTo>
                  <a:pt x="1028700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221876" y="5597071"/>
            <a:ext cx="574387" cy="574387"/>
          </a:xfrm>
          <a:custGeom>
            <a:avLst/>
            <a:gdLst/>
            <a:ahLst/>
            <a:cxnLst/>
            <a:rect l="l" t="t" r="r" b="b"/>
            <a:pathLst>
              <a:path w="574387" h="574387">
                <a:moveTo>
                  <a:pt x="0" y="0"/>
                </a:moveTo>
                <a:lnTo>
                  <a:pt x="574387" y="0"/>
                </a:lnTo>
                <a:lnTo>
                  <a:pt x="574387" y="574387"/>
                </a:lnTo>
                <a:lnTo>
                  <a:pt x="0" y="57438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Freeform 7"/>
          <p:cNvSpPr/>
          <p:nvPr/>
        </p:nvSpPr>
        <p:spPr>
          <a:xfrm>
            <a:off x="221876" y="6628658"/>
            <a:ext cx="574387" cy="574387"/>
          </a:xfrm>
          <a:custGeom>
            <a:avLst/>
            <a:gdLst/>
            <a:ahLst/>
            <a:cxnLst/>
            <a:rect l="l" t="t" r="r" b="b"/>
            <a:pathLst>
              <a:path w="574387" h="574387">
                <a:moveTo>
                  <a:pt x="0" y="0"/>
                </a:moveTo>
                <a:lnTo>
                  <a:pt x="574387" y="0"/>
                </a:lnTo>
                <a:lnTo>
                  <a:pt x="574387" y="574386"/>
                </a:lnTo>
                <a:lnTo>
                  <a:pt x="0" y="57438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Freeform 8"/>
          <p:cNvSpPr/>
          <p:nvPr/>
        </p:nvSpPr>
        <p:spPr>
          <a:xfrm rot="-5400000" flipH="1">
            <a:off x="14556625" y="7846175"/>
            <a:ext cx="10287000" cy="4881649"/>
          </a:xfrm>
          <a:custGeom>
            <a:avLst/>
            <a:gdLst/>
            <a:ahLst/>
            <a:cxnLst/>
            <a:rect l="l" t="t" r="r" b="b"/>
            <a:pathLst>
              <a:path w="10287000" h="4881649">
                <a:moveTo>
                  <a:pt x="10287000" y="0"/>
                </a:moveTo>
                <a:lnTo>
                  <a:pt x="0" y="0"/>
                </a:lnTo>
                <a:lnTo>
                  <a:pt x="0" y="4881650"/>
                </a:lnTo>
                <a:lnTo>
                  <a:pt x="10287000" y="4881650"/>
                </a:lnTo>
                <a:lnTo>
                  <a:pt x="1028700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rot="-2494712">
            <a:off x="14677169" y="271291"/>
            <a:ext cx="3486037" cy="3896992"/>
          </a:xfrm>
          <a:custGeom>
            <a:avLst/>
            <a:gdLst/>
            <a:ahLst/>
            <a:cxnLst/>
            <a:rect l="l" t="t" r="r" b="b"/>
            <a:pathLst>
              <a:path w="3486037" h="3896992">
                <a:moveTo>
                  <a:pt x="0" y="0"/>
                </a:moveTo>
                <a:lnTo>
                  <a:pt x="3486037" y="0"/>
                </a:lnTo>
                <a:lnTo>
                  <a:pt x="3486037" y="3896993"/>
                </a:lnTo>
                <a:lnTo>
                  <a:pt x="0" y="389699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txBody>
          <a:bodyPr/>
          <a:lstStyle/>
          <a:p>
            <a:endParaRPr lang="en-US" dirty="0"/>
          </a:p>
        </p:txBody>
      </p:sp>
      <p:sp>
        <p:nvSpPr>
          <p:cNvPr id="3" name="TextBox 3"/>
          <p:cNvSpPr txBox="1"/>
          <p:nvPr/>
        </p:nvSpPr>
        <p:spPr>
          <a:xfrm>
            <a:off x="812434" y="3525471"/>
            <a:ext cx="11308982" cy="5706562"/>
          </a:xfrm>
          <a:prstGeom prst="rect">
            <a:avLst/>
          </a:prstGeom>
        </p:spPr>
        <p:txBody>
          <a:bodyPr lIns="0" tIns="0" rIns="0" bIns="0" rtlCol="0" anchor="t">
            <a:spAutoFit/>
          </a:bodyPr>
          <a:lstStyle/>
          <a:p>
            <a:pPr algn="l">
              <a:spcBef>
                <a:spcPts val="1029"/>
              </a:spcBef>
              <a:spcAft>
                <a:spcPts val="1029"/>
              </a:spcAft>
              <a:buNone/>
            </a:pPr>
            <a:r>
              <a:rPr lang="en-US" sz="2800" b="1" i="0" dirty="0">
                <a:solidFill>
                  <a:schemeClr val="tx2"/>
                </a:solidFill>
                <a:effectLst/>
                <a:latin typeface="Glacial Indifference" panose="020B0604020202020204" charset="0"/>
              </a:rPr>
              <a:t>1. AI in Filmmaking</a:t>
            </a:r>
          </a:p>
          <a:p>
            <a:pPr algn="l">
              <a:spcBef>
                <a:spcPts val="1029"/>
              </a:spcBef>
              <a:spcAft>
                <a:spcPts val="1029"/>
              </a:spcAft>
              <a:buFont typeface="Arial" panose="020B0604020202020204" pitchFamily="34" charset="0"/>
              <a:buChar char="•"/>
            </a:pPr>
            <a:r>
              <a:rPr lang="en-US" sz="2800" b="1" i="0" dirty="0">
                <a:solidFill>
                  <a:schemeClr val="tx2"/>
                </a:solidFill>
                <a:effectLst/>
                <a:latin typeface="Glacial Indifference" panose="020B0604020202020204" charset="0"/>
              </a:rPr>
              <a:t>Scriptwriting:</a:t>
            </a:r>
            <a:r>
              <a:rPr lang="en-US" sz="2800" b="0" i="0" dirty="0">
                <a:solidFill>
                  <a:schemeClr val="tx2"/>
                </a:solidFill>
                <a:effectLst/>
                <a:latin typeface="Glacial Indifference" panose="020B0604020202020204" charset="0"/>
              </a:rPr>
              <a:t> AI tools (ChatGPT, Jasper) generate drafts &amp; predict hits.</a:t>
            </a:r>
          </a:p>
          <a:p>
            <a:pPr algn="l">
              <a:spcBef>
                <a:spcPts val="300"/>
              </a:spcBef>
              <a:spcAft>
                <a:spcPts val="1029"/>
              </a:spcAft>
              <a:buFont typeface="Arial" panose="020B0604020202020204" pitchFamily="34" charset="0"/>
              <a:buChar char="•"/>
            </a:pPr>
            <a:r>
              <a:rPr lang="en-US" sz="2800" b="1" i="0" dirty="0">
                <a:solidFill>
                  <a:schemeClr val="tx2"/>
                </a:solidFill>
                <a:effectLst/>
                <a:latin typeface="Glacial Indifference" panose="020B0604020202020204" charset="0"/>
              </a:rPr>
              <a:t>Deepfake Tech:</a:t>
            </a:r>
            <a:r>
              <a:rPr lang="en-US" sz="2800" b="0" i="0" dirty="0">
                <a:solidFill>
                  <a:schemeClr val="tx2"/>
                </a:solidFill>
                <a:effectLst/>
                <a:latin typeface="Glacial Indifference" panose="020B0604020202020204" charset="0"/>
              </a:rPr>
              <a:t> Recreate actors </a:t>
            </a:r>
            <a:r>
              <a:rPr lang="en-US" sz="2800" b="0" dirty="0">
                <a:solidFill>
                  <a:schemeClr val="tx2"/>
                </a:solidFill>
                <a:effectLst/>
                <a:latin typeface="Glacial Indifference" panose="020B0604020202020204" charset="0"/>
              </a:rPr>
              <a:t>(e.g., *de-aged De Niro in The Irishman).</a:t>
            </a:r>
          </a:p>
          <a:p>
            <a:pPr algn="l">
              <a:spcBef>
                <a:spcPts val="300"/>
              </a:spcBef>
              <a:spcAft>
                <a:spcPts val="1029"/>
              </a:spcAft>
              <a:buFont typeface="Arial" panose="020B0604020202020204" pitchFamily="34" charset="0"/>
              <a:buChar char="•"/>
            </a:pPr>
            <a:r>
              <a:rPr lang="en-US" sz="2800" b="1" i="0" dirty="0">
                <a:solidFill>
                  <a:schemeClr val="tx2"/>
                </a:solidFill>
                <a:effectLst/>
                <a:latin typeface="Glacial Indifference" panose="020B0604020202020204" charset="0"/>
              </a:rPr>
              <a:t>Post-Production:</a:t>
            </a:r>
            <a:r>
              <a:rPr lang="en-US" sz="2800" b="0" i="0" dirty="0">
                <a:solidFill>
                  <a:schemeClr val="tx2"/>
                </a:solidFill>
                <a:effectLst/>
                <a:latin typeface="Glacial Indifference" panose="020B0604020202020204" charset="0"/>
              </a:rPr>
              <a:t> AI edits footage, enhances VFX, auto-generates trailers.</a:t>
            </a:r>
          </a:p>
          <a:p>
            <a:pPr algn="l">
              <a:spcBef>
                <a:spcPts val="1029"/>
              </a:spcBef>
              <a:spcAft>
                <a:spcPts val="1029"/>
              </a:spcAft>
              <a:buNone/>
            </a:pPr>
            <a:r>
              <a:rPr lang="en-US" sz="2800" b="1" i="0" dirty="0">
                <a:solidFill>
                  <a:schemeClr val="tx2"/>
                </a:solidFill>
                <a:effectLst/>
                <a:latin typeface="Glacial Indifference" panose="020B0604020202020204" charset="0"/>
              </a:rPr>
              <a:t>2. Virtual Production</a:t>
            </a:r>
          </a:p>
          <a:p>
            <a:pPr algn="l">
              <a:spcBef>
                <a:spcPts val="1029"/>
              </a:spcBef>
              <a:spcAft>
                <a:spcPts val="1029"/>
              </a:spcAft>
              <a:buFont typeface="Arial" panose="020B0604020202020204" pitchFamily="34" charset="0"/>
              <a:buChar char="•"/>
            </a:pPr>
            <a:r>
              <a:rPr lang="en-US" sz="2800" b="1" i="0" dirty="0">
                <a:solidFill>
                  <a:schemeClr val="tx2"/>
                </a:solidFill>
                <a:effectLst/>
                <a:latin typeface="Glacial Indifference" panose="020B0604020202020204" charset="0"/>
              </a:rPr>
              <a:t>LED Volume Stages</a:t>
            </a:r>
            <a:r>
              <a:rPr lang="en-US" sz="2800" b="0" i="0" dirty="0">
                <a:solidFill>
                  <a:schemeClr val="tx2"/>
                </a:solidFill>
                <a:effectLst/>
                <a:latin typeface="Glacial Indifference" panose="020B0604020202020204" charset="0"/>
              </a:rPr>
              <a:t> </a:t>
            </a:r>
            <a:r>
              <a:rPr lang="en-US" sz="2800" b="0" dirty="0">
                <a:solidFill>
                  <a:schemeClr val="tx2"/>
                </a:solidFill>
                <a:effectLst/>
                <a:latin typeface="Glacial Indifference" panose="020B0604020202020204" charset="0"/>
              </a:rPr>
              <a:t>(à la The Mandalorian) replace green screens.</a:t>
            </a:r>
          </a:p>
          <a:p>
            <a:pPr algn="l">
              <a:spcBef>
                <a:spcPts val="300"/>
              </a:spcBef>
              <a:spcAft>
                <a:spcPts val="1029"/>
              </a:spcAft>
              <a:buFont typeface="Arial" panose="020B0604020202020204" pitchFamily="34" charset="0"/>
              <a:buChar char="•"/>
            </a:pPr>
            <a:r>
              <a:rPr lang="en-US" sz="2800" b="1" i="0" dirty="0">
                <a:solidFill>
                  <a:schemeClr val="tx2"/>
                </a:solidFill>
                <a:effectLst/>
                <a:latin typeface="Glacial Indifference" panose="020B0604020202020204" charset="0"/>
              </a:rPr>
              <a:t>VR/AR Films:</a:t>
            </a:r>
            <a:r>
              <a:rPr lang="en-US" sz="2800" b="0" i="0" dirty="0">
                <a:solidFill>
                  <a:schemeClr val="tx2"/>
                </a:solidFill>
                <a:effectLst/>
                <a:latin typeface="Glacial Indifference" panose="020B0604020202020204" charset="0"/>
              </a:rPr>
              <a:t> Immersive storytelling </a:t>
            </a:r>
            <a:r>
              <a:rPr lang="en-US" sz="2800" b="0" dirty="0">
                <a:solidFill>
                  <a:schemeClr val="tx2"/>
                </a:solidFill>
                <a:effectLst/>
                <a:latin typeface="Glacial Indifference" panose="020B0604020202020204" charset="0"/>
              </a:rPr>
              <a:t>(e.g., Oculus VR cinema).</a:t>
            </a:r>
          </a:p>
          <a:p>
            <a:pPr algn="l"/>
            <a:r>
              <a:rPr lang="en-US" sz="2799" dirty="0">
                <a:solidFill>
                  <a:srgbClr val="174076"/>
                </a:solidFill>
                <a:latin typeface="Glacial Indifference"/>
                <a:ea typeface="Glacial Indifference"/>
                <a:cs typeface="Glacial Indifference"/>
                <a:sym typeface="Glacial Indifference"/>
              </a:rPr>
              <a:t> </a:t>
            </a:r>
          </a:p>
        </p:txBody>
      </p:sp>
      <p:sp>
        <p:nvSpPr>
          <p:cNvPr id="4" name="TextBox 4"/>
          <p:cNvSpPr txBox="1"/>
          <p:nvPr/>
        </p:nvSpPr>
        <p:spPr>
          <a:xfrm>
            <a:off x="1028700" y="1138196"/>
            <a:ext cx="11308982" cy="1846659"/>
          </a:xfrm>
          <a:prstGeom prst="rect">
            <a:avLst/>
          </a:prstGeom>
        </p:spPr>
        <p:txBody>
          <a:bodyPr lIns="0" tIns="0" rIns="0" bIns="0" rtlCol="0" anchor="t">
            <a:spAutoFit/>
          </a:bodyPr>
          <a:lstStyle/>
          <a:p>
            <a:pPr marL="0" lvl="0" indent="0" algn="l">
              <a:lnSpc>
                <a:spcPts val="7200"/>
              </a:lnSpc>
            </a:pPr>
            <a:r>
              <a:rPr lang="en-US" sz="6000" dirty="0">
                <a:solidFill>
                  <a:srgbClr val="174076"/>
                </a:solidFill>
                <a:latin typeface="Yeseva One"/>
                <a:ea typeface="Yeseva One"/>
                <a:cs typeface="Yeseva One"/>
                <a:sym typeface="Yeseva One"/>
              </a:rPr>
              <a:t>The Future of Film Industry: AI, Tech and Beyond</a:t>
            </a:r>
          </a:p>
        </p:txBody>
      </p:sp>
      <p:sp>
        <p:nvSpPr>
          <p:cNvPr id="5" name="Freeform 5"/>
          <p:cNvSpPr/>
          <p:nvPr/>
        </p:nvSpPr>
        <p:spPr>
          <a:xfrm rot="5400000" flipH="1">
            <a:off x="10531475" y="2580310"/>
            <a:ext cx="10942434" cy="5192682"/>
          </a:xfrm>
          <a:custGeom>
            <a:avLst/>
            <a:gdLst/>
            <a:ahLst/>
            <a:cxnLst/>
            <a:rect l="l" t="t" r="r" b="b"/>
            <a:pathLst>
              <a:path w="10942434" h="5192682">
                <a:moveTo>
                  <a:pt x="10942434" y="0"/>
                </a:moveTo>
                <a:lnTo>
                  <a:pt x="0" y="0"/>
                </a:lnTo>
                <a:lnTo>
                  <a:pt x="0" y="5192682"/>
                </a:lnTo>
                <a:lnTo>
                  <a:pt x="10942434" y="5192682"/>
                </a:lnTo>
                <a:lnTo>
                  <a:pt x="10942434"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rot="-1583519">
            <a:off x="11687962" y="3859759"/>
            <a:ext cx="7570635" cy="5606216"/>
          </a:xfrm>
          <a:custGeom>
            <a:avLst/>
            <a:gdLst/>
            <a:ahLst/>
            <a:cxnLst/>
            <a:rect l="l" t="t" r="r" b="b"/>
            <a:pathLst>
              <a:path w="7570635" h="5606216">
                <a:moveTo>
                  <a:pt x="0" y="0"/>
                </a:moveTo>
                <a:lnTo>
                  <a:pt x="7570635" y="0"/>
                </a:lnTo>
                <a:lnTo>
                  <a:pt x="7570635" y="5606216"/>
                </a:lnTo>
                <a:lnTo>
                  <a:pt x="0" y="56062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rot="357744">
            <a:off x="13707483" y="411706"/>
            <a:ext cx="574387" cy="574387"/>
          </a:xfrm>
          <a:custGeom>
            <a:avLst/>
            <a:gdLst/>
            <a:ahLst/>
            <a:cxnLst/>
            <a:rect l="l" t="t" r="r" b="b"/>
            <a:pathLst>
              <a:path w="574387" h="574387">
                <a:moveTo>
                  <a:pt x="0" y="0"/>
                </a:moveTo>
                <a:lnTo>
                  <a:pt x="574387" y="0"/>
                </a:lnTo>
                <a:lnTo>
                  <a:pt x="574387" y="574387"/>
                </a:lnTo>
                <a:lnTo>
                  <a:pt x="0" y="5743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Freeform 8"/>
          <p:cNvSpPr/>
          <p:nvPr/>
        </p:nvSpPr>
        <p:spPr>
          <a:xfrm rot="357744">
            <a:off x="13600326" y="1437712"/>
            <a:ext cx="574387" cy="574387"/>
          </a:xfrm>
          <a:custGeom>
            <a:avLst/>
            <a:gdLst/>
            <a:ahLst/>
            <a:cxnLst/>
            <a:rect l="l" t="t" r="r" b="b"/>
            <a:pathLst>
              <a:path w="574387" h="574387">
                <a:moveTo>
                  <a:pt x="0" y="0"/>
                </a:moveTo>
                <a:lnTo>
                  <a:pt x="574387" y="0"/>
                </a:lnTo>
                <a:lnTo>
                  <a:pt x="574387" y="574387"/>
                </a:lnTo>
                <a:lnTo>
                  <a:pt x="0" y="5743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txBody>
          <a:bodyPr/>
          <a:lstStyle/>
          <a:p>
            <a:endParaRPr lang="en-US" dirty="0"/>
          </a:p>
        </p:txBody>
      </p:sp>
      <p:sp>
        <p:nvSpPr>
          <p:cNvPr id="3" name="Freeform 3"/>
          <p:cNvSpPr/>
          <p:nvPr/>
        </p:nvSpPr>
        <p:spPr>
          <a:xfrm>
            <a:off x="8327908" y="-247553"/>
            <a:ext cx="7156449" cy="7941639"/>
          </a:xfrm>
          <a:custGeom>
            <a:avLst/>
            <a:gdLst/>
            <a:ahLst/>
            <a:cxnLst/>
            <a:rect l="l" t="t" r="r" b="b"/>
            <a:pathLst>
              <a:path w="7156449" h="7941639">
                <a:moveTo>
                  <a:pt x="0" y="0"/>
                </a:moveTo>
                <a:lnTo>
                  <a:pt x="7156448" y="0"/>
                </a:lnTo>
                <a:lnTo>
                  <a:pt x="7156448" y="7941639"/>
                </a:lnTo>
                <a:lnTo>
                  <a:pt x="0" y="794163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flipH="1">
            <a:off x="2804429" y="8184463"/>
            <a:ext cx="21023623" cy="9976665"/>
          </a:xfrm>
          <a:custGeom>
            <a:avLst/>
            <a:gdLst/>
            <a:ahLst/>
            <a:cxnLst/>
            <a:rect l="l" t="t" r="r" b="b"/>
            <a:pathLst>
              <a:path w="21023623" h="9976665">
                <a:moveTo>
                  <a:pt x="21023623" y="0"/>
                </a:moveTo>
                <a:lnTo>
                  <a:pt x="0" y="0"/>
                </a:lnTo>
                <a:lnTo>
                  <a:pt x="0" y="9976665"/>
                </a:lnTo>
                <a:lnTo>
                  <a:pt x="21023623" y="9976665"/>
                </a:lnTo>
                <a:lnTo>
                  <a:pt x="21023623"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12478123" y="4234815"/>
            <a:ext cx="4781177" cy="3955955"/>
          </a:xfrm>
          <a:prstGeom prst="rect">
            <a:avLst/>
          </a:prstGeom>
        </p:spPr>
        <p:txBody>
          <a:bodyPr lIns="0" tIns="0" rIns="0" bIns="0" rtlCol="0" anchor="t">
            <a:spAutoFit/>
          </a:bodyPr>
          <a:lstStyle/>
          <a:p>
            <a:pPr algn="l">
              <a:lnSpc>
                <a:spcPct val="150000"/>
              </a:lnSpc>
            </a:pPr>
            <a:r>
              <a:rPr lang="en-US" sz="2400" b="0" i="0" dirty="0">
                <a:solidFill>
                  <a:srgbClr val="404040"/>
                </a:solidFill>
                <a:effectLst/>
                <a:latin typeface="DeepSeek-CJK-patch"/>
              </a:rPr>
              <a:t> </a:t>
            </a:r>
            <a:r>
              <a:rPr lang="en-US" sz="4400" b="0" i="1" dirty="0">
                <a:solidFill>
                  <a:schemeClr val="bg1"/>
                </a:solidFill>
                <a:effectLst/>
                <a:latin typeface="DeepSeek-CJK-patch"/>
              </a:rPr>
              <a:t>"Will AI make films more creative—or just more corporate?"</a:t>
            </a:r>
            <a:endParaRPr lang="en-US" sz="2400" dirty="0">
              <a:solidFill>
                <a:schemeClr val="bg1"/>
              </a:solidFill>
              <a:latin typeface="Glacial Indifference"/>
              <a:ea typeface="Glacial Indifference"/>
              <a:cs typeface="Glacial Indifference"/>
              <a:sym typeface="Glacial Indifference"/>
            </a:endParaRPr>
          </a:p>
        </p:txBody>
      </p:sp>
      <p:sp>
        <p:nvSpPr>
          <p:cNvPr id="8" name="TextBox 8"/>
          <p:cNvSpPr txBox="1"/>
          <p:nvPr/>
        </p:nvSpPr>
        <p:spPr>
          <a:xfrm>
            <a:off x="12478123" y="3280410"/>
            <a:ext cx="4781177" cy="423193"/>
          </a:xfrm>
          <a:prstGeom prst="rect">
            <a:avLst/>
          </a:prstGeom>
        </p:spPr>
        <p:txBody>
          <a:bodyPr lIns="0" tIns="0" rIns="0" bIns="0" rtlCol="0" anchor="t">
            <a:spAutoFit/>
          </a:bodyPr>
          <a:lstStyle/>
          <a:p>
            <a:pPr algn="l">
              <a:lnSpc>
                <a:spcPts val="3600"/>
              </a:lnSpc>
            </a:pPr>
            <a:r>
              <a:rPr lang="en-US" sz="2400" b="1" dirty="0">
                <a:solidFill>
                  <a:srgbClr val="FFFFFF"/>
                </a:solidFill>
                <a:latin typeface="Glacial Indifference Bold"/>
                <a:ea typeface="Glacial Indifference Bold"/>
                <a:cs typeface="Glacial Indifference Bold"/>
                <a:sym typeface="Glacial Indifference Bold"/>
              </a:rPr>
              <a:t>Final thought:</a:t>
            </a:r>
          </a:p>
        </p:txBody>
      </p:sp>
      <p:sp>
        <p:nvSpPr>
          <p:cNvPr id="9" name="TextBox 8">
            <a:extLst>
              <a:ext uri="{FF2B5EF4-FFF2-40B4-BE49-F238E27FC236}">
                <a16:creationId xmlns:a16="http://schemas.microsoft.com/office/drawing/2014/main" id="{9BEF9818-F355-4F10-D2A7-6918F2347863}"/>
              </a:ext>
            </a:extLst>
          </p:cNvPr>
          <p:cNvSpPr txBox="1"/>
          <p:nvPr/>
        </p:nvSpPr>
        <p:spPr>
          <a:xfrm>
            <a:off x="1230653" y="322093"/>
            <a:ext cx="8801100" cy="9964907"/>
          </a:xfrm>
          <a:prstGeom prst="rect">
            <a:avLst/>
          </a:prstGeom>
          <a:noFill/>
        </p:spPr>
        <p:txBody>
          <a:bodyPr wrap="square" rtlCol="0">
            <a:spAutoFit/>
          </a:bodyPr>
          <a:lstStyle/>
          <a:p>
            <a:pPr algn="l">
              <a:lnSpc>
                <a:spcPct val="150000"/>
              </a:lnSpc>
              <a:spcBef>
                <a:spcPts val="1029"/>
              </a:spcBef>
              <a:spcAft>
                <a:spcPts val="1029"/>
              </a:spcAft>
              <a:buNone/>
            </a:pPr>
            <a:r>
              <a:rPr lang="en-US" sz="2800" b="1" i="0" dirty="0">
                <a:solidFill>
                  <a:schemeClr val="tx2"/>
                </a:solidFill>
                <a:effectLst/>
                <a:latin typeface="Glacial Indifference" panose="020B0604020202020204" charset="0"/>
              </a:rPr>
              <a:t>3. Streaming &amp; Personalization</a:t>
            </a:r>
            <a:endParaRPr lang="en-US" sz="2800" b="0" i="0" dirty="0">
              <a:solidFill>
                <a:schemeClr val="tx2"/>
              </a:solidFill>
              <a:effectLst/>
              <a:latin typeface="Glacial Indifference" panose="020B0604020202020204" charset="0"/>
            </a:endParaRPr>
          </a:p>
          <a:p>
            <a:pPr algn="l">
              <a:lnSpc>
                <a:spcPct val="150000"/>
              </a:lnSpc>
              <a:spcBef>
                <a:spcPts val="1029"/>
              </a:spcBef>
              <a:spcAft>
                <a:spcPts val="1029"/>
              </a:spcAft>
              <a:buFont typeface="Arial" panose="020B0604020202020204" pitchFamily="34" charset="0"/>
              <a:buChar char="•"/>
            </a:pPr>
            <a:r>
              <a:rPr lang="en-US" sz="2800" b="1" i="0" dirty="0">
                <a:solidFill>
                  <a:schemeClr val="tx2"/>
                </a:solidFill>
                <a:effectLst/>
                <a:latin typeface="Glacial Indifference" panose="020B0604020202020204" charset="0"/>
              </a:rPr>
              <a:t>AI Algorithms:</a:t>
            </a:r>
            <a:r>
              <a:rPr lang="en-US" sz="2800" b="0" i="0" dirty="0">
                <a:solidFill>
                  <a:schemeClr val="tx2"/>
                </a:solidFill>
                <a:effectLst/>
                <a:latin typeface="Glacial Indifference" panose="020B0604020202020204" charset="0"/>
              </a:rPr>
              <a:t> Netflix/Disney+ recommend (and even </a:t>
            </a:r>
            <a:r>
              <a:rPr lang="en-US" sz="2800" b="0" i="1" dirty="0">
                <a:solidFill>
                  <a:schemeClr val="tx2"/>
                </a:solidFill>
                <a:effectLst/>
                <a:latin typeface="Glacial Indifference" panose="020B0604020202020204" charset="0"/>
              </a:rPr>
              <a:t>commission</a:t>
            </a:r>
            <a:r>
              <a:rPr lang="en-US" sz="2800" b="0" i="0" dirty="0">
                <a:solidFill>
                  <a:schemeClr val="tx2"/>
                </a:solidFill>
                <a:effectLst/>
                <a:latin typeface="Glacial Indifference" panose="020B0604020202020204" charset="0"/>
              </a:rPr>
              <a:t>) content.</a:t>
            </a:r>
          </a:p>
          <a:p>
            <a:pPr algn="l">
              <a:lnSpc>
                <a:spcPct val="150000"/>
              </a:lnSpc>
              <a:spcBef>
                <a:spcPts val="300"/>
              </a:spcBef>
              <a:spcAft>
                <a:spcPts val="1029"/>
              </a:spcAft>
              <a:buFont typeface="Arial" panose="020B0604020202020204" pitchFamily="34" charset="0"/>
              <a:buChar char="•"/>
            </a:pPr>
            <a:r>
              <a:rPr lang="en-US" sz="2800" b="1" i="0" dirty="0">
                <a:solidFill>
                  <a:schemeClr val="tx2"/>
                </a:solidFill>
                <a:effectLst/>
                <a:latin typeface="Glacial Indifference" panose="020B0604020202020204" charset="0"/>
              </a:rPr>
              <a:t>Interactive Movies:</a:t>
            </a:r>
            <a:r>
              <a:rPr lang="en-US" sz="2800" b="0" i="0" dirty="0">
                <a:solidFill>
                  <a:schemeClr val="tx2"/>
                </a:solidFill>
                <a:effectLst/>
                <a:latin typeface="Glacial Indifference" panose="020B0604020202020204" charset="0"/>
              </a:rPr>
              <a:t> Choose-your-own-adventure films go mainstream.</a:t>
            </a:r>
          </a:p>
          <a:p>
            <a:pPr algn="l">
              <a:lnSpc>
                <a:spcPct val="150000"/>
              </a:lnSpc>
              <a:spcBef>
                <a:spcPts val="1029"/>
              </a:spcBef>
              <a:spcAft>
                <a:spcPts val="1029"/>
              </a:spcAft>
              <a:buNone/>
            </a:pPr>
            <a:r>
              <a:rPr lang="en-US" sz="2800" b="1" i="0" dirty="0">
                <a:solidFill>
                  <a:schemeClr val="tx2"/>
                </a:solidFill>
                <a:effectLst/>
                <a:latin typeface="Glacial Indifference" panose="020B0604020202020204" charset="0"/>
              </a:rPr>
              <a:t>4. Ethical Challenges</a:t>
            </a:r>
            <a:endParaRPr lang="en-US" sz="2800" b="0" i="0" dirty="0">
              <a:solidFill>
                <a:schemeClr val="tx2"/>
              </a:solidFill>
              <a:effectLst/>
              <a:latin typeface="Glacial Indifference" panose="020B0604020202020204" charset="0"/>
            </a:endParaRPr>
          </a:p>
          <a:p>
            <a:pPr algn="l">
              <a:lnSpc>
                <a:spcPct val="150000"/>
              </a:lnSpc>
              <a:spcBef>
                <a:spcPts val="1029"/>
              </a:spcBef>
              <a:spcAft>
                <a:spcPts val="1029"/>
              </a:spcAft>
              <a:buFont typeface="Arial" panose="020B0604020202020204" pitchFamily="34" charset="0"/>
              <a:buChar char="•"/>
            </a:pPr>
            <a:r>
              <a:rPr lang="en-US" sz="2800" b="1" i="0" dirty="0">
                <a:solidFill>
                  <a:schemeClr val="tx2"/>
                </a:solidFill>
                <a:effectLst/>
                <a:latin typeface="Glacial Indifference" panose="020B0604020202020204" charset="0"/>
              </a:rPr>
              <a:t>Job Threats:</a:t>
            </a:r>
            <a:r>
              <a:rPr lang="en-US" sz="2800" b="0" i="0" dirty="0">
                <a:solidFill>
                  <a:schemeClr val="tx2"/>
                </a:solidFill>
                <a:effectLst/>
                <a:latin typeface="Glacial Indifference" panose="020B0604020202020204" charset="0"/>
              </a:rPr>
              <a:t> Will AI replace writers, animators, editors?</a:t>
            </a:r>
          </a:p>
          <a:p>
            <a:pPr algn="l">
              <a:lnSpc>
                <a:spcPct val="150000"/>
              </a:lnSpc>
              <a:spcBef>
                <a:spcPts val="300"/>
              </a:spcBef>
              <a:spcAft>
                <a:spcPts val="1029"/>
              </a:spcAft>
              <a:buFont typeface="Arial" panose="020B0604020202020204" pitchFamily="34" charset="0"/>
              <a:buChar char="•"/>
            </a:pPr>
            <a:r>
              <a:rPr lang="en-US" sz="2800" b="1" i="0" dirty="0">
                <a:solidFill>
                  <a:schemeClr val="tx2"/>
                </a:solidFill>
                <a:effectLst/>
                <a:latin typeface="Glacial Indifference" panose="020B0604020202020204" charset="0"/>
              </a:rPr>
              <a:t>Deepfake Abuse:</a:t>
            </a:r>
            <a:r>
              <a:rPr lang="en-US" sz="2800" b="0" i="0" dirty="0">
                <a:solidFill>
                  <a:schemeClr val="tx2"/>
                </a:solidFill>
                <a:effectLst/>
                <a:latin typeface="Glacial Indifference" panose="020B0604020202020204" charset="0"/>
              </a:rPr>
              <a:t> Who controls an actor’s digital likeness?</a:t>
            </a:r>
          </a:p>
          <a:p>
            <a:pPr algn="l">
              <a:lnSpc>
                <a:spcPct val="150000"/>
              </a:lnSpc>
              <a:spcBef>
                <a:spcPts val="1029"/>
              </a:spcBef>
              <a:spcAft>
                <a:spcPts val="1029"/>
              </a:spcAft>
              <a:buNone/>
            </a:pPr>
            <a:r>
              <a:rPr lang="en-US" sz="2800" b="1" i="0" dirty="0">
                <a:solidFill>
                  <a:schemeClr val="tx2"/>
                </a:solidFill>
                <a:effectLst/>
                <a:latin typeface="Glacial Indifference" panose="020B0604020202020204" charset="0"/>
              </a:rPr>
              <a:t>5. Sustainable Tech</a:t>
            </a:r>
            <a:endParaRPr lang="en-US" sz="2800" b="0" i="0" dirty="0">
              <a:solidFill>
                <a:schemeClr val="tx2"/>
              </a:solidFill>
              <a:effectLst/>
              <a:latin typeface="Glacial Indifference" panose="020B0604020202020204" charset="0"/>
            </a:endParaRPr>
          </a:p>
          <a:p>
            <a:pPr algn="l">
              <a:lnSpc>
                <a:spcPct val="150000"/>
              </a:lnSpc>
              <a:spcBef>
                <a:spcPts val="1029"/>
              </a:spcBef>
              <a:spcAft>
                <a:spcPts val="1029"/>
              </a:spcAft>
              <a:buFont typeface="Arial" panose="020B0604020202020204" pitchFamily="34" charset="0"/>
              <a:buChar char="•"/>
            </a:pPr>
            <a:r>
              <a:rPr lang="en-US" sz="2800" b="1" i="0" dirty="0">
                <a:solidFill>
                  <a:schemeClr val="tx2"/>
                </a:solidFill>
                <a:effectLst/>
                <a:latin typeface="Glacial Indifference" panose="020B0604020202020204" charset="0"/>
              </a:rPr>
              <a:t>AI-Powered Sets:</a:t>
            </a:r>
            <a:r>
              <a:rPr lang="en-US" sz="2800" b="0" i="0" dirty="0">
                <a:solidFill>
                  <a:schemeClr val="tx2"/>
                </a:solidFill>
                <a:effectLst/>
                <a:latin typeface="Glacial Indifference" panose="020B0604020202020204" charset="0"/>
              </a:rPr>
              <a:t> Reduce waste, energy use, and travel emissions.</a:t>
            </a:r>
          </a:p>
          <a:p>
            <a:pPr>
              <a:lnSpc>
                <a:spcPct val="150000"/>
              </a:lnSpc>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txBody>
          <a:bodyPr/>
          <a:lstStyle/>
          <a:p>
            <a:endParaRPr lang="en-US"/>
          </a:p>
        </p:txBody>
      </p:sp>
      <p:sp>
        <p:nvSpPr>
          <p:cNvPr id="3" name="TextBox 3"/>
          <p:cNvSpPr txBox="1"/>
          <p:nvPr/>
        </p:nvSpPr>
        <p:spPr>
          <a:xfrm>
            <a:off x="9535534" y="4523139"/>
            <a:ext cx="7853613" cy="1231106"/>
          </a:xfrm>
          <a:prstGeom prst="rect">
            <a:avLst/>
          </a:prstGeom>
        </p:spPr>
        <p:txBody>
          <a:bodyPr lIns="0" tIns="0" rIns="0" bIns="0" rtlCol="0" anchor="t">
            <a:spAutoFit/>
          </a:bodyPr>
          <a:lstStyle/>
          <a:p>
            <a:pPr marL="0" lvl="0" indent="0" algn="l">
              <a:lnSpc>
                <a:spcPts val="9570"/>
              </a:lnSpc>
            </a:pPr>
            <a:r>
              <a:rPr lang="en-US" sz="8700" dirty="0">
                <a:solidFill>
                  <a:srgbClr val="FFFFFF"/>
                </a:solidFill>
                <a:latin typeface="Yeseva One"/>
                <a:ea typeface="Yeseva One"/>
                <a:cs typeface="Yeseva One"/>
                <a:sym typeface="Yeseva One"/>
              </a:rPr>
              <a:t>Conclusion </a:t>
            </a:r>
          </a:p>
        </p:txBody>
      </p:sp>
      <p:sp>
        <p:nvSpPr>
          <p:cNvPr id="4" name="Freeform 4"/>
          <p:cNvSpPr/>
          <p:nvPr/>
        </p:nvSpPr>
        <p:spPr>
          <a:xfrm>
            <a:off x="1319218" y="1714500"/>
            <a:ext cx="6935198" cy="7315200"/>
          </a:xfrm>
          <a:custGeom>
            <a:avLst/>
            <a:gdLst/>
            <a:ahLst/>
            <a:cxnLst/>
            <a:rect l="l" t="t" r="r" b="b"/>
            <a:pathLst>
              <a:path w="6935198" h="7517543">
                <a:moveTo>
                  <a:pt x="0" y="0"/>
                </a:moveTo>
                <a:lnTo>
                  <a:pt x="6935198" y="0"/>
                </a:lnTo>
                <a:lnTo>
                  <a:pt x="6935198" y="7517543"/>
                </a:lnTo>
                <a:lnTo>
                  <a:pt x="0" y="751754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flipV="1">
            <a:off x="-4910060" y="-3852949"/>
            <a:ext cx="10287000" cy="4881649"/>
          </a:xfrm>
          <a:custGeom>
            <a:avLst/>
            <a:gdLst/>
            <a:ahLst/>
            <a:cxnLst/>
            <a:rect l="l" t="t" r="r" b="b"/>
            <a:pathLst>
              <a:path w="10287000" h="4881649">
                <a:moveTo>
                  <a:pt x="0" y="4881649"/>
                </a:moveTo>
                <a:lnTo>
                  <a:pt x="10287000" y="4881649"/>
                </a:lnTo>
                <a:lnTo>
                  <a:pt x="10287000" y="0"/>
                </a:lnTo>
                <a:lnTo>
                  <a:pt x="0" y="0"/>
                </a:lnTo>
                <a:lnTo>
                  <a:pt x="0" y="4881649"/>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rot="-5400000">
            <a:off x="5834140" y="256446"/>
            <a:ext cx="574387" cy="574387"/>
          </a:xfrm>
          <a:custGeom>
            <a:avLst/>
            <a:gdLst/>
            <a:ahLst/>
            <a:cxnLst/>
            <a:rect l="l" t="t" r="r" b="b"/>
            <a:pathLst>
              <a:path w="574387" h="574387">
                <a:moveTo>
                  <a:pt x="0" y="0"/>
                </a:moveTo>
                <a:lnTo>
                  <a:pt x="574386" y="0"/>
                </a:lnTo>
                <a:lnTo>
                  <a:pt x="574386" y="574387"/>
                </a:lnTo>
                <a:lnTo>
                  <a:pt x="0" y="5743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7" name="Freeform 7"/>
          <p:cNvSpPr/>
          <p:nvPr/>
        </p:nvSpPr>
        <p:spPr>
          <a:xfrm rot="-5400000">
            <a:off x="6865726" y="256446"/>
            <a:ext cx="574387" cy="574387"/>
          </a:xfrm>
          <a:custGeom>
            <a:avLst/>
            <a:gdLst/>
            <a:ahLst/>
            <a:cxnLst/>
            <a:rect l="l" t="t" r="r" b="b"/>
            <a:pathLst>
              <a:path w="574387" h="574387">
                <a:moveTo>
                  <a:pt x="0" y="0"/>
                </a:moveTo>
                <a:lnTo>
                  <a:pt x="574387" y="0"/>
                </a:lnTo>
                <a:lnTo>
                  <a:pt x="574387" y="574387"/>
                </a:lnTo>
                <a:lnTo>
                  <a:pt x="0" y="5743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8" name="Freeform 8"/>
          <p:cNvSpPr/>
          <p:nvPr/>
        </p:nvSpPr>
        <p:spPr>
          <a:xfrm rot="-10800000" flipV="1">
            <a:off x="13147387" y="9258300"/>
            <a:ext cx="10287000" cy="4881649"/>
          </a:xfrm>
          <a:custGeom>
            <a:avLst/>
            <a:gdLst/>
            <a:ahLst/>
            <a:cxnLst/>
            <a:rect l="l" t="t" r="r" b="b"/>
            <a:pathLst>
              <a:path w="10287000" h="4881649">
                <a:moveTo>
                  <a:pt x="0" y="4881649"/>
                </a:moveTo>
                <a:lnTo>
                  <a:pt x="10287000" y="4881649"/>
                </a:lnTo>
                <a:lnTo>
                  <a:pt x="10287000" y="0"/>
                </a:lnTo>
                <a:lnTo>
                  <a:pt x="0" y="0"/>
                </a:lnTo>
                <a:lnTo>
                  <a:pt x="0" y="4881649"/>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Freeform 9"/>
          <p:cNvSpPr/>
          <p:nvPr/>
        </p:nvSpPr>
        <p:spPr>
          <a:xfrm rot="5400000">
            <a:off x="12115800" y="9456167"/>
            <a:ext cx="574387" cy="574387"/>
          </a:xfrm>
          <a:custGeom>
            <a:avLst/>
            <a:gdLst/>
            <a:ahLst/>
            <a:cxnLst/>
            <a:rect l="l" t="t" r="r" b="b"/>
            <a:pathLst>
              <a:path w="574387" h="574387">
                <a:moveTo>
                  <a:pt x="0" y="0"/>
                </a:moveTo>
                <a:lnTo>
                  <a:pt x="574387" y="0"/>
                </a:lnTo>
                <a:lnTo>
                  <a:pt x="574387" y="574387"/>
                </a:lnTo>
                <a:lnTo>
                  <a:pt x="0" y="5743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0" name="Freeform 10"/>
          <p:cNvSpPr/>
          <p:nvPr/>
        </p:nvSpPr>
        <p:spPr>
          <a:xfrm rot="5400000">
            <a:off x="11084213" y="9456167"/>
            <a:ext cx="574387" cy="574387"/>
          </a:xfrm>
          <a:custGeom>
            <a:avLst/>
            <a:gdLst/>
            <a:ahLst/>
            <a:cxnLst/>
            <a:rect l="l" t="t" r="r" b="b"/>
            <a:pathLst>
              <a:path w="574387" h="574387">
                <a:moveTo>
                  <a:pt x="0" y="0"/>
                </a:moveTo>
                <a:lnTo>
                  <a:pt x="574387" y="0"/>
                </a:lnTo>
                <a:lnTo>
                  <a:pt x="574387" y="574387"/>
                </a:lnTo>
                <a:lnTo>
                  <a:pt x="0" y="5743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pic>
        <p:nvPicPr>
          <p:cNvPr id="1026" name="Picture 2" descr="Poster Blank Film clapper board or movie clapper cinema board , Slate film  on black wooden with red wall background – Wall Art | UkPosters">
            <a:extLst>
              <a:ext uri="{FF2B5EF4-FFF2-40B4-BE49-F238E27FC236}">
                <a16:creationId xmlns:a16="http://schemas.microsoft.com/office/drawing/2014/main" id="{4848FA44-CC83-1C9C-11C9-28CED78CF309}"/>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4400" r="22790" b="1544"/>
          <a:stretch/>
        </p:blipFill>
        <p:spPr bwMode="auto">
          <a:xfrm>
            <a:off x="1524000" y="2187894"/>
            <a:ext cx="6539416" cy="48606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r="-48" b="-38974"/>
            </a:stretch>
          </a:blipFill>
        </p:spPr>
        <p:txBody>
          <a:bodyPr/>
          <a:lstStyle/>
          <a:p>
            <a:endParaRPr lang="en-US"/>
          </a:p>
        </p:txBody>
      </p:sp>
      <p:grpSp>
        <p:nvGrpSpPr>
          <p:cNvPr id="3" name="Group 3"/>
          <p:cNvGrpSpPr/>
          <p:nvPr/>
        </p:nvGrpSpPr>
        <p:grpSpPr>
          <a:xfrm>
            <a:off x="2648954" y="2279983"/>
            <a:ext cx="12105468" cy="7301094"/>
            <a:chOff x="0" y="-66675"/>
            <a:chExt cx="3188271" cy="1839989"/>
          </a:xfrm>
        </p:grpSpPr>
        <p:sp>
          <p:nvSpPr>
            <p:cNvPr id="4" name="Freeform 4"/>
            <p:cNvSpPr/>
            <p:nvPr/>
          </p:nvSpPr>
          <p:spPr>
            <a:xfrm>
              <a:off x="0" y="0"/>
              <a:ext cx="3188271" cy="1730376"/>
            </a:xfrm>
            <a:custGeom>
              <a:avLst/>
              <a:gdLst/>
              <a:ahLst/>
              <a:cxnLst/>
              <a:rect l="l" t="t" r="r" b="b"/>
              <a:pathLst>
                <a:path w="3188271" h="1773314">
                  <a:moveTo>
                    <a:pt x="0" y="0"/>
                  </a:moveTo>
                  <a:lnTo>
                    <a:pt x="3188271" y="0"/>
                  </a:lnTo>
                  <a:lnTo>
                    <a:pt x="3188271" y="1773314"/>
                  </a:lnTo>
                  <a:lnTo>
                    <a:pt x="0" y="1773314"/>
                  </a:lnTo>
                  <a:close/>
                </a:path>
              </a:pathLst>
            </a:custGeom>
            <a:solidFill>
              <a:srgbClr val="C5E5DE"/>
            </a:solidFill>
          </p:spPr>
          <p:txBody>
            <a:bodyPr/>
            <a:lstStyle/>
            <a:p>
              <a:endParaRPr lang="en-US"/>
            </a:p>
          </p:txBody>
        </p:sp>
        <p:sp>
          <p:nvSpPr>
            <p:cNvPr id="5" name="TextBox 5"/>
            <p:cNvSpPr txBox="1"/>
            <p:nvPr/>
          </p:nvSpPr>
          <p:spPr>
            <a:xfrm>
              <a:off x="0" y="-66675"/>
              <a:ext cx="3188270" cy="1839989"/>
            </a:xfrm>
            <a:prstGeom prst="rect">
              <a:avLst/>
            </a:prstGeom>
          </p:spPr>
          <p:txBody>
            <a:bodyPr lIns="50800" tIns="50800" rIns="50800" bIns="50800" rtlCol="0" anchor="ctr"/>
            <a:lstStyle/>
            <a:p>
              <a:pPr algn="ctr">
                <a:lnSpc>
                  <a:spcPts val="3150"/>
                </a:lnSpc>
              </a:pPr>
              <a:endParaRPr/>
            </a:p>
          </p:txBody>
        </p:sp>
      </p:grpSp>
      <p:sp>
        <p:nvSpPr>
          <p:cNvPr id="6" name="Freeform 6"/>
          <p:cNvSpPr/>
          <p:nvPr/>
        </p:nvSpPr>
        <p:spPr>
          <a:xfrm>
            <a:off x="15136494" y="4935880"/>
            <a:ext cx="4245611" cy="4645198"/>
          </a:xfrm>
          <a:custGeom>
            <a:avLst/>
            <a:gdLst/>
            <a:ahLst/>
            <a:cxnLst/>
            <a:rect l="l" t="t" r="r" b="b"/>
            <a:pathLst>
              <a:path w="4245611" h="4645198">
                <a:moveTo>
                  <a:pt x="0" y="0"/>
                </a:moveTo>
                <a:lnTo>
                  <a:pt x="4245612" y="0"/>
                </a:lnTo>
                <a:lnTo>
                  <a:pt x="4245612" y="4645198"/>
                </a:lnTo>
                <a:lnTo>
                  <a:pt x="0" y="46451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2825342" y="1108508"/>
            <a:ext cx="13383482" cy="1104900"/>
          </a:xfrm>
          <a:prstGeom prst="rect">
            <a:avLst/>
          </a:prstGeom>
        </p:spPr>
        <p:txBody>
          <a:bodyPr lIns="0" tIns="0" rIns="0" bIns="0" rtlCol="0" anchor="t">
            <a:spAutoFit/>
          </a:bodyPr>
          <a:lstStyle/>
          <a:p>
            <a:pPr marL="0" lvl="0" indent="0" algn="l">
              <a:lnSpc>
                <a:spcPts val="8640"/>
              </a:lnSpc>
              <a:spcBef>
                <a:spcPct val="0"/>
              </a:spcBef>
            </a:pPr>
            <a:r>
              <a:rPr lang="en-US" sz="7200" dirty="0">
                <a:solidFill>
                  <a:srgbClr val="174076"/>
                </a:solidFill>
                <a:latin typeface="Yeseva One"/>
                <a:ea typeface="Yeseva One"/>
                <a:cs typeface="Yeseva One"/>
                <a:sym typeface="Yeseva One"/>
              </a:rPr>
              <a:t>At the end of the day…</a:t>
            </a:r>
          </a:p>
        </p:txBody>
      </p:sp>
      <p:sp>
        <p:nvSpPr>
          <p:cNvPr id="8" name="Freeform 8"/>
          <p:cNvSpPr/>
          <p:nvPr/>
        </p:nvSpPr>
        <p:spPr>
          <a:xfrm rot="5400000" flipH="1">
            <a:off x="-6282459" y="2492922"/>
            <a:ext cx="11171019" cy="5301156"/>
          </a:xfrm>
          <a:custGeom>
            <a:avLst/>
            <a:gdLst/>
            <a:ahLst/>
            <a:cxnLst/>
            <a:rect l="l" t="t" r="r" b="b"/>
            <a:pathLst>
              <a:path w="11171019" h="5301156">
                <a:moveTo>
                  <a:pt x="11171019" y="0"/>
                </a:moveTo>
                <a:lnTo>
                  <a:pt x="0" y="0"/>
                </a:lnTo>
                <a:lnTo>
                  <a:pt x="0" y="5301156"/>
                </a:lnTo>
                <a:lnTo>
                  <a:pt x="11171019" y="5301156"/>
                </a:lnTo>
                <a:lnTo>
                  <a:pt x="11171019"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TextBox 9"/>
          <p:cNvSpPr txBox="1"/>
          <p:nvPr/>
        </p:nvSpPr>
        <p:spPr>
          <a:xfrm>
            <a:off x="3180888" y="2760068"/>
            <a:ext cx="11041596" cy="6418424"/>
          </a:xfrm>
          <a:prstGeom prst="rect">
            <a:avLst/>
          </a:prstGeom>
        </p:spPr>
        <p:txBody>
          <a:bodyPr lIns="0" tIns="0" rIns="0" bIns="0" rtlCol="0" anchor="t">
            <a:spAutoFit/>
          </a:bodyPr>
          <a:lstStyle/>
          <a:p>
            <a:pPr algn="l">
              <a:lnSpc>
                <a:spcPts val="4199"/>
              </a:lnSpc>
            </a:pPr>
            <a:r>
              <a:rPr lang="en-US" sz="2799" dirty="0">
                <a:solidFill>
                  <a:srgbClr val="174076"/>
                </a:solidFill>
                <a:latin typeface="Glacial Indifference"/>
                <a:ea typeface="Glacial Indifference"/>
                <a:cs typeface="Glacial Indifference"/>
                <a:sym typeface="Glacial Indifference"/>
              </a:rPr>
              <a:t>Film is often seen as a reflection of society, but it is just as much a product of the choices made behind the camera. Every decision—from what stories get told to how they are framed, edited, and distributed—shapes the way audiences interpret the world.</a:t>
            </a:r>
          </a:p>
          <a:p>
            <a:pPr algn="l">
              <a:lnSpc>
                <a:spcPts val="4199"/>
              </a:lnSpc>
            </a:pPr>
            <a:endParaRPr lang="en-US" sz="2799" dirty="0">
              <a:solidFill>
                <a:srgbClr val="174076"/>
              </a:solidFill>
              <a:latin typeface="Glacial Indifference"/>
              <a:ea typeface="Glacial Indifference"/>
              <a:cs typeface="Glacial Indifference"/>
              <a:sym typeface="Glacial Indifference"/>
            </a:endParaRPr>
          </a:p>
          <a:p>
            <a:pPr algn="l">
              <a:lnSpc>
                <a:spcPts val="4199"/>
              </a:lnSpc>
            </a:pPr>
            <a:r>
              <a:rPr lang="en-US" sz="2799" dirty="0">
                <a:solidFill>
                  <a:srgbClr val="174076"/>
                </a:solidFill>
                <a:latin typeface="Glacial Indifference"/>
                <a:ea typeface="Glacial Indifference"/>
                <a:cs typeface="Glacial Indifference"/>
                <a:sym typeface="Glacial Indifference"/>
              </a:rPr>
              <a:t>While the industry thrives on creativity, it is also driven by financial interests, technological advancements, and shifting audience expectations.</a:t>
            </a:r>
          </a:p>
          <a:p>
            <a:pPr algn="l">
              <a:lnSpc>
                <a:spcPts val="4199"/>
              </a:lnSpc>
            </a:pPr>
            <a:endParaRPr lang="en-US" sz="2799" dirty="0">
              <a:solidFill>
                <a:srgbClr val="174076"/>
              </a:solidFill>
              <a:latin typeface="Glacial Indifference"/>
              <a:ea typeface="Glacial Indifference"/>
              <a:cs typeface="Glacial Indifference"/>
              <a:sym typeface="Glacial Indifference"/>
            </a:endParaRPr>
          </a:p>
          <a:p>
            <a:pPr algn="l">
              <a:lnSpc>
                <a:spcPts val="4199"/>
              </a:lnSpc>
            </a:pPr>
            <a:r>
              <a:rPr lang="en-US" sz="2799" dirty="0">
                <a:solidFill>
                  <a:srgbClr val="174076"/>
                </a:solidFill>
                <a:latin typeface="Glacial Indifference"/>
                <a:ea typeface="Glacial Indifference"/>
                <a:cs typeface="Glacial Indifference"/>
                <a:sym typeface="Glacial Indifference"/>
              </a:rPr>
              <a:t>As new platforms emerge and traditional models evolve, the question remains: who controls the narratives we consume, and how does that influence the way we see reality?</a:t>
            </a:r>
          </a:p>
        </p:txBody>
      </p:sp>
      <p:sp>
        <p:nvSpPr>
          <p:cNvPr id="10" name="Freeform 10"/>
          <p:cNvSpPr/>
          <p:nvPr/>
        </p:nvSpPr>
        <p:spPr>
          <a:xfrm rot="2934375">
            <a:off x="15741516" y="768064"/>
            <a:ext cx="3247343" cy="3552975"/>
          </a:xfrm>
          <a:custGeom>
            <a:avLst/>
            <a:gdLst/>
            <a:ahLst/>
            <a:cxnLst/>
            <a:rect l="l" t="t" r="r" b="b"/>
            <a:pathLst>
              <a:path w="3247343" h="3552975">
                <a:moveTo>
                  <a:pt x="0" y="0"/>
                </a:moveTo>
                <a:lnTo>
                  <a:pt x="3247343" y="0"/>
                </a:lnTo>
                <a:lnTo>
                  <a:pt x="3247343" y="3552975"/>
                </a:lnTo>
                <a:lnTo>
                  <a:pt x="0" y="35529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1122</Words>
  <Application>Microsoft Office PowerPoint</Application>
  <PresentationFormat>Custom</PresentationFormat>
  <Paragraphs>90</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Yeseva One</vt:lpstr>
      <vt:lpstr>Glacial Indifference Bold</vt:lpstr>
      <vt:lpstr>Calibri</vt:lpstr>
      <vt:lpstr>DeepSeek-CJK-patch</vt:lpstr>
      <vt:lpstr>Glacial Indifference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English Media Documentary Film Conventions Presentation in White Red Illustrative Style</dc:title>
  <dc:creator>DC</dc:creator>
  <cp:lastModifiedBy>02-235202-003</cp:lastModifiedBy>
  <cp:revision>8</cp:revision>
  <dcterms:created xsi:type="dcterms:W3CDTF">2006-08-16T00:00:00Z</dcterms:created>
  <dcterms:modified xsi:type="dcterms:W3CDTF">2025-04-20T11:46:20Z</dcterms:modified>
  <dc:identifier>DAGhKJ0kdz4</dc:identifier>
</cp:coreProperties>
</file>